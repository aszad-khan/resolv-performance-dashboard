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charts/chart3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08"/>
    <p:restoredTop sz="94610"/>
  </p:normalViewPr>
  <p:slideViewPr>
    <p:cSldViewPr snapToGrid="0" snapToObjects="1">
      <p:cViewPr varScale="1">
        <p:scale>
          <a:sx n="121" d="100"/>
          <a:sy n="121" d="100"/>
        </p:scale>
        <p:origin x="176" y="8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Q1 2025</c:v>
                </c:pt>
              </c:strCache>
            </c:strRef>
          </c:tx>
          <c:spPr>
            <a:solidFill>
              <a:srgbClr val="C5D8F5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NPS</c:v>
                </c:pt>
                <c:pt idx="1">
                  <c:v>Recognition</c:v>
                </c:pt>
                <c:pt idx="2">
                  <c:v>Delivery</c:v>
                </c:pt>
                <c:pt idx="3">
                  <c:v>CSAT</c:v>
                </c:pt>
                <c:pt idx="4">
                  <c:v>Recall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52</c:v>
                </c:pt>
                <c:pt idx="1">
                  <c:v>65</c:v>
                </c:pt>
                <c:pt idx="2">
                  <c:v>88</c:v>
                </c:pt>
                <c:pt idx="3">
                  <c:v>79</c:v>
                </c:pt>
                <c:pt idx="4">
                  <c:v>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EE5-F541-BAF9-652C72308FB8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Q1 2026</c:v>
                </c:pt>
              </c:strCache>
            </c:strRef>
          </c:tx>
          <c:spPr>
            <a:solidFill>
              <a:srgbClr val="1B3A6B"/>
            </a:solidFill>
            <a:effectLst/>
          </c:spPr>
          <c:invertIfNegative val="0"/>
          <c:cat>
            <c:strRef>
              <c:f>Sheet1!$A$2:$A$6</c:f>
              <c:strCache>
                <c:ptCount val="5"/>
                <c:pt idx="0">
                  <c:v>NPS</c:v>
                </c:pt>
                <c:pt idx="1">
                  <c:v>Recognition</c:v>
                </c:pt>
                <c:pt idx="2">
                  <c:v>Delivery</c:v>
                </c:pt>
                <c:pt idx="3">
                  <c:v>CSAT</c:v>
                </c:pt>
                <c:pt idx="4">
                  <c:v>Recall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68</c:v>
                </c:pt>
                <c:pt idx="1">
                  <c:v>79</c:v>
                </c:pt>
                <c:pt idx="2">
                  <c:v>96</c:v>
                </c:pt>
                <c:pt idx="3">
                  <c:v>88</c:v>
                </c:pt>
                <c:pt idx="4">
                  <c:v>55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EE5-F541-BAF9-652C72308FB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TW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TW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TW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Rejection Rate %</c:v>
                </c:pt>
              </c:strCache>
            </c:strRef>
          </c:tx>
          <c:spPr>
            <a:ln w="38100" cap="flat">
              <a:solidFill>
                <a:srgbClr val="9B233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B2335"/>
              </a:solidFill>
              <a:ln w="9525" cap="flat">
                <a:solidFill>
                  <a:srgbClr val="9B2335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9B2335"/>
                    </a:solidFill>
                    <a:latin typeface="Arial"/>
                  </a:defRPr>
                </a:pPr>
                <a:endParaRPr lang="en-TW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Q1 2025</c:v>
                </c:pt>
                <c:pt idx="1">
                  <c:v>Q2 2025</c:v>
                </c:pt>
                <c:pt idx="2">
                  <c:v>Q3 2025</c:v>
                </c:pt>
                <c:pt idx="3">
                  <c:v>Q4 2025</c:v>
                </c:pt>
                <c:pt idx="4">
                  <c:v>Q1 2026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5.8</c:v>
                </c:pt>
                <c:pt idx="1">
                  <c:v>4.3</c:v>
                </c:pt>
                <c:pt idx="2">
                  <c:v>2.9</c:v>
                </c:pt>
                <c:pt idx="3">
                  <c:v>2.2000000000000002</c:v>
                </c:pt>
                <c:pt idx="4">
                  <c:v>1.8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4B89-0844-A5CD-3B4E9DD85BD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TW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8ECF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TW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Outcome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17A4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E7BB-3C45-9993-8A1A67103BEF}"/>
              </c:ext>
            </c:extLst>
          </c:dPt>
          <c:dPt>
            <c:idx val="1"/>
            <c:bubble3D val="0"/>
            <c:spPr>
              <a:solidFill>
                <a:srgbClr val="2E5FA3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E7BB-3C45-9993-8A1A67103BEF}"/>
              </c:ext>
            </c:extLst>
          </c:dPt>
          <c:dPt>
            <c:idx val="2"/>
            <c:bubble3D val="0"/>
            <c:spPr>
              <a:solidFill>
                <a:srgbClr val="9B2335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E7BB-3C45-9993-8A1A67103BE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E7BB-3C45-9993-8A1A67103BE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E7BB-3C45-9993-8A1A67103BE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  <a:endParaRPr lang="en-TW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E7BB-3C45-9993-8A1A67103BE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TW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Retained — Price Match</c:v>
                </c:pt>
                <c:pt idx="1">
                  <c:v>Retained — Value Argument</c:v>
                </c:pt>
                <c:pt idx="2">
                  <c:v>Lost to Competitor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22</c:v>
                </c:pt>
                <c:pt idx="1">
                  <c:v>5</c:v>
                </c:pt>
                <c:pt idx="2">
                  <c:v>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E7BB-3C45-9993-8A1A67103BE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900"/>
          </a:pPr>
          <a:endParaRPr lang="en-TW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931592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0"/>
            <a:ext cx="2926080" cy="5143500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Shape 1"/>
          <p:cNvSpPr/>
          <p:nvPr/>
        </p:nvSpPr>
        <p:spPr>
          <a:xfrm>
            <a:off x="6583680" y="0"/>
            <a:ext cx="2560320" cy="5143500"/>
          </a:xfrm>
          <a:prstGeom prst="rect">
            <a:avLst/>
          </a:prstGeom>
          <a:solidFill>
            <a:srgbClr val="2A4480"/>
          </a:solidFill>
          <a:ln w="12700">
            <a:solidFill>
              <a:srgbClr val="2A448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" name="Shape 2"/>
          <p:cNvSpPr/>
          <p:nvPr/>
        </p:nvSpPr>
        <p:spPr>
          <a:xfrm>
            <a:off x="0" y="4480560"/>
            <a:ext cx="9144000" cy="662940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Shape 3"/>
          <p:cNvSpPr/>
          <p:nvPr/>
        </p:nvSpPr>
        <p:spPr>
          <a:xfrm>
            <a:off x="502920" y="914400"/>
            <a:ext cx="73152" cy="2377440"/>
          </a:xfrm>
          <a:prstGeom prst="rect">
            <a:avLst/>
          </a:prstGeom>
          <a:solidFill>
            <a:srgbClr val="4A9BE8"/>
          </a:solidFill>
          <a:ln w="12700">
            <a:solidFill>
              <a:srgbClr val="4A9BE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685800" y="777240"/>
            <a:ext cx="5303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BB8E8"/>
                </a:solidFill>
              </a:rPr>
              <a:t>RESOLV CORPORATION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85800" y="1280160"/>
            <a:ext cx="530352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Performance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Dashboard</a:t>
            </a:r>
            <a:endParaRPr lang="en-US" sz="4200" dirty="0"/>
          </a:p>
          <a:p>
            <a:pPr marL="0" indent="0">
              <a:lnSpc>
                <a:spcPct val="110000"/>
              </a:lnSpc>
              <a:buNone/>
            </a:pPr>
            <a:r>
              <a:rPr lang="en-US" sz="4200" b="1" dirty="0">
                <a:solidFill>
                  <a:srgbClr val="FFFFFF"/>
                </a:solidFill>
              </a:rPr>
              <a:t>Project</a:t>
            </a:r>
            <a:endParaRPr lang="en-US" sz="4200" dirty="0"/>
          </a:p>
        </p:txBody>
      </p:sp>
      <p:sp>
        <p:nvSpPr>
          <p:cNvPr id="8" name="Text 6"/>
          <p:cNvSpPr/>
          <p:nvPr/>
        </p:nvSpPr>
        <p:spPr>
          <a:xfrm>
            <a:off x="685800" y="315468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i="1" dirty="0">
                <a:solidFill>
                  <a:srgbClr val="9BB8E8"/>
                </a:solidFill>
              </a:rPr>
              <a:t>Customer Intelligence &amp; Performance Management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35661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BA8D8"/>
                </a:solidFill>
              </a:rPr>
              <a:t>Branding  ·  Rejection Management  ·  Competitive Pricing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02920" y="4526280"/>
            <a:ext cx="1664208" cy="548640"/>
          </a:xfrm>
          <a:prstGeom prst="rect">
            <a:avLst/>
          </a:prstGeom>
          <a:solidFill>
            <a:srgbClr val="243B6E"/>
          </a:solidFill>
          <a:ln w="6350">
            <a:solidFill>
              <a:srgbClr val="4A9BE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Text 9"/>
          <p:cNvSpPr/>
          <p:nvPr/>
        </p:nvSpPr>
        <p:spPr>
          <a:xfrm>
            <a:off x="576072" y="4535424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A8D8"/>
                </a:solidFill>
              </a:rPr>
              <a:t>Reporting Period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76072" y="472744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Q1 2026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2313432" y="4526280"/>
            <a:ext cx="1664208" cy="548640"/>
          </a:xfrm>
          <a:prstGeom prst="rect">
            <a:avLst/>
          </a:prstGeom>
          <a:solidFill>
            <a:srgbClr val="243B6E"/>
          </a:solidFill>
          <a:ln w="6350">
            <a:solidFill>
              <a:srgbClr val="4A9BE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4" name="Text 12"/>
          <p:cNvSpPr/>
          <p:nvPr/>
        </p:nvSpPr>
        <p:spPr>
          <a:xfrm>
            <a:off x="2386584" y="4535424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A8D8"/>
                </a:solidFill>
              </a:rPr>
              <a:t>Data Type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2386584" y="472744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Illustrative / Demo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4123944" y="4526280"/>
            <a:ext cx="1664208" cy="548640"/>
          </a:xfrm>
          <a:prstGeom prst="rect">
            <a:avLst/>
          </a:prstGeom>
          <a:solidFill>
            <a:srgbClr val="243B6E"/>
          </a:solidFill>
          <a:ln w="6350">
            <a:solidFill>
              <a:srgbClr val="4A9BE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7" name="Text 15"/>
          <p:cNvSpPr/>
          <p:nvPr/>
        </p:nvSpPr>
        <p:spPr>
          <a:xfrm>
            <a:off x="4197096" y="4535424"/>
            <a:ext cx="15179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7BA8D8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4197096" y="4727448"/>
            <a:ext cx="15179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Confidential</a:t>
            </a:r>
            <a:endParaRPr lang="en-US" sz="1000" dirty="0"/>
          </a:p>
        </p:txBody>
      </p:sp>
      <p:sp>
        <p:nvSpPr>
          <p:cNvPr id="19" name="Text 7">
            <a:extLst>
              <a:ext uri="{FF2B5EF4-FFF2-40B4-BE49-F238E27FC236}">
                <a16:creationId xmlns:a16="http://schemas.microsoft.com/office/drawing/2014/main" id="{ED8CA289-4078-2FA5-39A2-039D9D2D4AD4}"/>
              </a:ext>
            </a:extLst>
          </p:cNvPr>
          <p:cNvSpPr/>
          <p:nvPr/>
        </p:nvSpPr>
        <p:spPr>
          <a:xfrm>
            <a:off x="7432430" y="4492089"/>
            <a:ext cx="162560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chemeClr val="bg1"/>
                </a:solidFill>
              </a:rPr>
              <a:t>By: </a:t>
            </a:r>
            <a:r>
              <a:rPr lang="en-US" sz="1100" dirty="0" err="1">
                <a:solidFill>
                  <a:schemeClr val="bg1"/>
                </a:solidFill>
              </a:rPr>
              <a:t>Aszad</a:t>
            </a:r>
            <a:r>
              <a:rPr lang="en-US" sz="1100" dirty="0">
                <a:solidFill>
                  <a:schemeClr val="bg1"/>
                </a:solidFill>
              </a:rPr>
              <a:t> 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6E4F7"/>
                </a:solidFill>
              </a:rPr>
              <a:t>OVERVIEW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Text 3"/>
          <p:cNvSpPr/>
          <p:nvPr/>
        </p:nvSpPr>
        <p:spPr>
          <a:xfrm>
            <a:off x="365760" y="49286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Resolv Corporation  |  Performance Dashboard Project  |  Q1 2026  |  Placeholder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3A6B"/>
                </a:solidFill>
              </a:rPr>
              <a:t>What We Will Cover</a:t>
            </a:r>
            <a:endParaRPr lang="en-US" sz="2800" dirty="0"/>
          </a:p>
        </p:txBody>
      </p:sp>
      <p:sp>
        <p:nvSpPr>
          <p:cNvPr id="7" name="Shape 5"/>
          <p:cNvSpPr/>
          <p:nvPr/>
        </p:nvSpPr>
        <p:spPr>
          <a:xfrm>
            <a:off x="411480" y="132588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8" name="Shape 6"/>
          <p:cNvSpPr/>
          <p:nvPr/>
        </p:nvSpPr>
        <p:spPr>
          <a:xfrm>
            <a:off x="411480" y="1325880"/>
            <a:ext cx="50292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411480" y="1325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4F7"/>
                </a:solidFill>
              </a:rPr>
              <a:t>01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005840" y="14356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Project Background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005840" y="17282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What Resolv Corporation does and why this project was needed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11480" y="246888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3" name="Shape 11"/>
          <p:cNvSpPr/>
          <p:nvPr/>
        </p:nvSpPr>
        <p:spPr>
          <a:xfrm>
            <a:off x="411480" y="2468880"/>
            <a:ext cx="50292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4" name="Text 12"/>
          <p:cNvSpPr/>
          <p:nvPr/>
        </p:nvSpPr>
        <p:spPr>
          <a:xfrm>
            <a:off x="41148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4F7"/>
                </a:solidFill>
              </a:rPr>
              <a:t>02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005840" y="25786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The Three Pillars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05840" y="28712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Branding, Customer Rejections, and Competitive Pricing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11480" y="361188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8" name="Shape 16"/>
          <p:cNvSpPr/>
          <p:nvPr/>
        </p:nvSpPr>
        <p:spPr>
          <a:xfrm>
            <a:off x="411480" y="3611880"/>
            <a:ext cx="50292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9" name="Text 17"/>
          <p:cNvSpPr/>
          <p:nvPr/>
        </p:nvSpPr>
        <p:spPr>
          <a:xfrm>
            <a:off x="411480" y="3611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4F7"/>
                </a:solidFill>
              </a:rPr>
              <a:t>03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1005840" y="37216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Data &amp; Methodology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005840" y="40142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Where data comes from and how we analyzed it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846320" y="132588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23" name="Shape 21"/>
          <p:cNvSpPr/>
          <p:nvPr/>
        </p:nvSpPr>
        <p:spPr>
          <a:xfrm>
            <a:off x="4846320" y="1325880"/>
            <a:ext cx="50292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4" name="Text 22"/>
          <p:cNvSpPr/>
          <p:nvPr/>
        </p:nvSpPr>
        <p:spPr>
          <a:xfrm>
            <a:off x="4846320" y="1325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4F7"/>
                </a:solidFill>
              </a:rPr>
              <a:t>04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5440680" y="14356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Key Findings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440680" y="17282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What the numbers tell us about each pillar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846320" y="246888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28" name="Shape 26"/>
          <p:cNvSpPr/>
          <p:nvPr/>
        </p:nvSpPr>
        <p:spPr>
          <a:xfrm>
            <a:off x="4846320" y="2468880"/>
            <a:ext cx="50292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9" name="Text 27"/>
          <p:cNvSpPr/>
          <p:nvPr/>
        </p:nvSpPr>
        <p:spPr>
          <a:xfrm>
            <a:off x="4846320" y="2468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4F7"/>
                </a:solidFill>
              </a:rPr>
              <a:t>05</a:t>
            </a:r>
            <a:endParaRPr lang="en-US" sz="1600" dirty="0"/>
          </a:p>
        </p:txBody>
      </p:sp>
      <p:sp>
        <p:nvSpPr>
          <p:cNvPr id="30" name="Text 28"/>
          <p:cNvSpPr/>
          <p:nvPr/>
        </p:nvSpPr>
        <p:spPr>
          <a:xfrm>
            <a:off x="5440680" y="25786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Recommendations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440680" y="28712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Six actions Resolv should take in Q2 2026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4846320" y="3611880"/>
            <a:ext cx="4206240" cy="100584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33" name="Shape 31"/>
          <p:cNvSpPr/>
          <p:nvPr/>
        </p:nvSpPr>
        <p:spPr>
          <a:xfrm>
            <a:off x="4846320" y="3611880"/>
            <a:ext cx="502920" cy="100584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4" name="Text 32"/>
          <p:cNvSpPr/>
          <p:nvPr/>
        </p:nvSpPr>
        <p:spPr>
          <a:xfrm>
            <a:off x="4846320" y="3611880"/>
            <a:ext cx="50292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D6E4F7"/>
                </a:solidFill>
              </a:rPr>
              <a:t>06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5440680" y="3721608"/>
            <a:ext cx="3520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Why It Matters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440680" y="4014216"/>
            <a:ext cx="3520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The business and financial impact of this work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6E4F7"/>
                </a:solidFill>
              </a:rPr>
              <a:t>SECTION 1 — PROJECT BACKGROUND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Text 3"/>
          <p:cNvSpPr/>
          <p:nvPr/>
        </p:nvSpPr>
        <p:spPr>
          <a:xfrm>
            <a:off x="365760" y="49286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Resolv Corporation  |  Performance Dashboard Project  |  Q1 2026  |  Placeholder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</a:rPr>
              <a:t>About Resolv Corporation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411480" y="1234440"/>
            <a:ext cx="4754880" cy="749808"/>
          </a:xfrm>
          <a:prstGeom prst="rect">
            <a:avLst/>
          </a:prstGeom>
          <a:solidFill>
            <a:srgbClr val="EEF4FC"/>
          </a:solidFill>
          <a:ln w="635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8" name="Shape 6"/>
          <p:cNvSpPr/>
          <p:nvPr/>
        </p:nvSpPr>
        <p:spPr>
          <a:xfrm>
            <a:off x="411480" y="1234440"/>
            <a:ext cx="54864" cy="7498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566928" y="1307592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What They Do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66928" y="1536192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Industrial materials supplier — sells high-specification products to manufacturers and processors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11480" y="2084832"/>
            <a:ext cx="4754880" cy="749808"/>
          </a:xfrm>
          <a:prstGeom prst="rect">
            <a:avLst/>
          </a:prstGeom>
          <a:solidFill>
            <a:srgbClr val="EEF4FC"/>
          </a:solidFill>
          <a:ln w="635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2" name="Shape 10"/>
          <p:cNvSpPr/>
          <p:nvPr/>
        </p:nvSpPr>
        <p:spPr>
          <a:xfrm>
            <a:off x="411480" y="2084832"/>
            <a:ext cx="54864" cy="7498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566928" y="2157984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How They Sell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2386584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Annual blanket orders, confirmed multi-month orders, and spot sales across three customer tiers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11480" y="2935224"/>
            <a:ext cx="4754880" cy="749808"/>
          </a:xfrm>
          <a:prstGeom prst="rect">
            <a:avLst/>
          </a:prstGeom>
          <a:solidFill>
            <a:srgbClr val="EEF4FC"/>
          </a:solidFill>
          <a:ln w="635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6" name="Shape 14"/>
          <p:cNvSpPr/>
          <p:nvPr/>
        </p:nvSpPr>
        <p:spPr>
          <a:xfrm>
            <a:off x="411480" y="2935224"/>
            <a:ext cx="54864" cy="7498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7" name="Text 15"/>
          <p:cNvSpPr/>
          <p:nvPr/>
        </p:nvSpPr>
        <p:spPr>
          <a:xfrm>
            <a:off x="566928" y="3008376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What Makes Them Different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66928" y="3236976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Pre-shipment sample program, low rejection rates, and flexible volume pricing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3785616"/>
            <a:ext cx="4754880" cy="749808"/>
          </a:xfrm>
          <a:prstGeom prst="rect">
            <a:avLst/>
          </a:prstGeom>
          <a:solidFill>
            <a:srgbClr val="EEF4FC"/>
          </a:solidFill>
          <a:ln w="635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0" name="Shape 18"/>
          <p:cNvSpPr/>
          <p:nvPr/>
        </p:nvSpPr>
        <p:spPr>
          <a:xfrm>
            <a:off x="411480" y="3785616"/>
            <a:ext cx="54864" cy="749808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1" name="Text 19"/>
          <p:cNvSpPr/>
          <p:nvPr/>
        </p:nvSpPr>
        <p:spPr>
          <a:xfrm>
            <a:off x="566928" y="3858768"/>
            <a:ext cx="4572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Who This Affects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66928" y="4087368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Sales, Operations, Marketing, Finance — and ultimately the customers who rely on Resolv's quality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0" y="1234440"/>
            <a:ext cx="3246120" cy="341071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24" name="Text 22"/>
          <p:cNvSpPr/>
          <p:nvPr/>
        </p:nvSpPr>
        <p:spPr>
          <a:xfrm>
            <a:off x="5623560" y="1371600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6E4F7"/>
                </a:solidFill>
              </a:rPr>
              <a:t>The 3 Business Problems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23560" y="1901952"/>
            <a:ext cx="274320" cy="274320"/>
          </a:xfrm>
          <a:prstGeom prst="ellipse">
            <a:avLst/>
          </a:prstGeom>
          <a:solidFill>
            <a:srgbClr val="4A9BE8"/>
          </a:solidFill>
          <a:ln w="12700">
            <a:solidFill>
              <a:srgbClr val="4A9BE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6" name="Text 24"/>
          <p:cNvSpPr/>
          <p:nvPr/>
        </p:nvSpPr>
        <p:spPr>
          <a:xfrm>
            <a:off x="5623560" y="18836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1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5989320" y="188366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Brand Risk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989320" y="213055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8E8"/>
                </a:solidFill>
              </a:rPr>
              <a:t>Competitors growing more aggressive. Brand recognition must be actively managed.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5623560" y="2862072"/>
            <a:ext cx="274320" cy="274320"/>
          </a:xfrm>
          <a:prstGeom prst="ellipse">
            <a:avLst/>
          </a:prstGeom>
          <a:solidFill>
            <a:srgbClr val="4A9BE8"/>
          </a:solidFill>
          <a:ln w="12700">
            <a:solidFill>
              <a:srgbClr val="4A9BE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0" name="Text 28"/>
          <p:cNvSpPr/>
          <p:nvPr/>
        </p:nvSpPr>
        <p:spPr>
          <a:xfrm>
            <a:off x="5623560" y="28437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2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5989320" y="284378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Rejections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989320" y="309067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8E8"/>
                </a:solidFill>
              </a:rPr>
              <a:t>Every returned shipment costs $4,200+ and damages the relationship.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5623560" y="3822192"/>
            <a:ext cx="274320" cy="274320"/>
          </a:xfrm>
          <a:prstGeom prst="ellipse">
            <a:avLst/>
          </a:prstGeom>
          <a:solidFill>
            <a:srgbClr val="4A9BE8"/>
          </a:solidFill>
          <a:ln w="12700">
            <a:solidFill>
              <a:srgbClr val="4A9BE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4" name="Text 32"/>
          <p:cNvSpPr/>
          <p:nvPr/>
        </p:nvSpPr>
        <p:spPr>
          <a:xfrm>
            <a:off x="5623560" y="38039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3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5989320" y="3803904"/>
            <a:ext cx="26517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FFFFF"/>
                </a:solidFill>
              </a:rPr>
              <a:t>Pricing Blindspot</a:t>
            </a:r>
            <a:endParaRPr lang="en-US" sz="1100" dirty="0"/>
          </a:p>
        </p:txBody>
      </p:sp>
      <p:sp>
        <p:nvSpPr>
          <p:cNvPr id="36" name="Text 34"/>
          <p:cNvSpPr/>
          <p:nvPr/>
        </p:nvSpPr>
        <p:spPr>
          <a:xfrm>
            <a:off x="5989320" y="4050792"/>
            <a:ext cx="26517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9BB8E8"/>
                </a:solidFill>
              </a:rPr>
              <a:t>When competitors offer lower prices, Resolv doesn't always know in time to respond.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6E4F7"/>
                </a:solidFill>
              </a:rPr>
              <a:t>SECTION 2 — THE THREE PILLARS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Text 3"/>
          <p:cNvSpPr/>
          <p:nvPr/>
        </p:nvSpPr>
        <p:spPr>
          <a:xfrm>
            <a:off x="365760" y="49286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Resolv Corporation  |  Performance Dashboard Project  |  Q1 2026  |  Placeholder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</a:rPr>
              <a:t>Our Strategic Framework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Three interconnected pillars - fixing one strengthens the others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1480" y="1463040"/>
            <a:ext cx="2697480" cy="3337560"/>
          </a:xfrm>
          <a:prstGeom prst="rect">
            <a:avLst/>
          </a:prstGeom>
          <a:solidFill>
            <a:srgbClr val="E8EDF8"/>
          </a:solidFill>
          <a:ln w="1270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9" name="Shape 7"/>
          <p:cNvSpPr/>
          <p:nvPr/>
        </p:nvSpPr>
        <p:spPr>
          <a:xfrm>
            <a:off x="411480" y="1463040"/>
            <a:ext cx="2697480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0" name="Text 8"/>
          <p:cNvSpPr/>
          <p:nvPr/>
        </p:nvSpPr>
        <p:spPr>
          <a:xfrm>
            <a:off x="548640" y="15087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Pillar I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48640" y="17556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Branding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594360" y="2340864"/>
            <a:ext cx="182880" cy="1828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868680" y="2313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Name recognition in target market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94360" y="2871216"/>
            <a:ext cx="182880" cy="1828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Text 13"/>
          <p:cNvSpPr/>
          <p:nvPr/>
        </p:nvSpPr>
        <p:spPr>
          <a:xfrm>
            <a:off x="868680" y="28437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Quality consistency every shipment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" y="3401568"/>
            <a:ext cx="182880" cy="1828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7" name="Text 15"/>
          <p:cNvSpPr/>
          <p:nvPr/>
        </p:nvSpPr>
        <p:spPr>
          <a:xfrm>
            <a:off x="868680" y="33741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On-time delivery performance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94360" y="3931920"/>
            <a:ext cx="182880" cy="182880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9" name="Text 17"/>
          <p:cNvSpPr/>
          <p:nvPr/>
        </p:nvSpPr>
        <p:spPr>
          <a:xfrm>
            <a:off x="868680" y="39044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Customer satisfaction &amp; NPS score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64408" y="1463040"/>
            <a:ext cx="2697480" cy="3337560"/>
          </a:xfrm>
          <a:prstGeom prst="rect">
            <a:avLst/>
          </a:prstGeom>
          <a:solidFill>
            <a:srgbClr val="E8F5EE"/>
          </a:solidFill>
          <a:ln w="12700">
            <a:solidFill>
              <a:srgbClr val="217A45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21" name="Shape 19"/>
          <p:cNvSpPr/>
          <p:nvPr/>
        </p:nvSpPr>
        <p:spPr>
          <a:xfrm>
            <a:off x="3264408" y="1463040"/>
            <a:ext cx="2697480" cy="640080"/>
          </a:xfrm>
          <a:prstGeom prst="rect">
            <a:avLst/>
          </a:prstGeom>
          <a:solidFill>
            <a:srgbClr val="217A45"/>
          </a:solidFill>
          <a:ln w="12700">
            <a:solidFill>
              <a:srgbClr val="217A4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2" name="Text 20"/>
          <p:cNvSpPr/>
          <p:nvPr/>
        </p:nvSpPr>
        <p:spPr>
          <a:xfrm>
            <a:off x="3401568" y="15087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Pillar II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3401568" y="17556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Rejection Management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3447288" y="2340864"/>
            <a:ext cx="182880" cy="182880"/>
          </a:xfrm>
          <a:prstGeom prst="ellipse">
            <a:avLst/>
          </a:prstGeom>
          <a:solidFill>
            <a:srgbClr val="217A45"/>
          </a:solidFill>
          <a:ln w="12700">
            <a:solidFill>
              <a:srgbClr val="217A4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5" name="Text 23"/>
          <p:cNvSpPr/>
          <p:nvPr/>
        </p:nvSpPr>
        <p:spPr>
          <a:xfrm>
            <a:off x="3721608" y="2313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Track every customer rejection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447288" y="2871216"/>
            <a:ext cx="182880" cy="182880"/>
          </a:xfrm>
          <a:prstGeom prst="ellipse">
            <a:avLst/>
          </a:prstGeom>
          <a:solidFill>
            <a:srgbClr val="217A45"/>
          </a:solidFill>
          <a:ln w="12700">
            <a:solidFill>
              <a:srgbClr val="217A4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7" name="Text 25"/>
          <p:cNvSpPr/>
          <p:nvPr/>
        </p:nvSpPr>
        <p:spPr>
          <a:xfrm>
            <a:off x="3721608" y="28437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Find the root cause each time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447288" y="3401568"/>
            <a:ext cx="182880" cy="182880"/>
          </a:xfrm>
          <a:prstGeom prst="ellipse">
            <a:avLst/>
          </a:prstGeom>
          <a:solidFill>
            <a:srgbClr val="217A45"/>
          </a:solidFill>
          <a:ln w="12700">
            <a:solidFill>
              <a:srgbClr val="217A4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9" name="Text 27"/>
          <p:cNvSpPr/>
          <p:nvPr/>
        </p:nvSpPr>
        <p:spPr>
          <a:xfrm>
            <a:off x="3721608" y="33741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Send samples before bulk shipment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447288" y="3931920"/>
            <a:ext cx="182880" cy="182880"/>
          </a:xfrm>
          <a:prstGeom prst="ellipse">
            <a:avLst/>
          </a:prstGeom>
          <a:solidFill>
            <a:srgbClr val="217A45"/>
          </a:solidFill>
          <a:ln w="12700">
            <a:solidFill>
              <a:srgbClr val="217A4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1" name="Text 29"/>
          <p:cNvSpPr/>
          <p:nvPr/>
        </p:nvSpPr>
        <p:spPr>
          <a:xfrm>
            <a:off x="3721608" y="39044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Measure sample approval rates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117336" y="1463040"/>
            <a:ext cx="2697480" cy="3337560"/>
          </a:xfrm>
          <a:prstGeom prst="rect">
            <a:avLst/>
          </a:prstGeom>
          <a:solidFill>
            <a:srgbClr val="FBF6E8"/>
          </a:solidFill>
          <a:ln w="12700">
            <a:solidFill>
              <a:srgbClr val="9B6B00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33" name="Shape 31"/>
          <p:cNvSpPr/>
          <p:nvPr/>
        </p:nvSpPr>
        <p:spPr>
          <a:xfrm>
            <a:off x="6117336" y="1463040"/>
            <a:ext cx="2697480" cy="640080"/>
          </a:xfrm>
          <a:prstGeom prst="rect">
            <a:avLst/>
          </a:prstGeom>
          <a:solidFill>
            <a:srgbClr val="9B6B00"/>
          </a:solidFill>
          <a:ln w="12700">
            <a:solidFill>
              <a:srgbClr val="9B6B0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4" name="Text 32"/>
          <p:cNvSpPr/>
          <p:nvPr/>
        </p:nvSpPr>
        <p:spPr>
          <a:xfrm>
            <a:off x="6254496" y="150876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200" dirty="0">
                <a:solidFill>
                  <a:srgbClr val="FFFFFF"/>
                </a:solidFill>
              </a:rPr>
              <a:t>Pillar III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6254496" y="1755648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</a:rPr>
              <a:t>Competitive Pricing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6300216" y="2340864"/>
            <a:ext cx="182880" cy="182880"/>
          </a:xfrm>
          <a:prstGeom prst="ellipse">
            <a:avLst/>
          </a:prstGeom>
          <a:solidFill>
            <a:srgbClr val="9B6B00"/>
          </a:solidFill>
          <a:ln w="12700">
            <a:solidFill>
              <a:srgbClr val="9B6B0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7" name="Text 35"/>
          <p:cNvSpPr/>
          <p:nvPr/>
        </p:nvSpPr>
        <p:spPr>
          <a:xfrm>
            <a:off x="6574536" y="2313432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Log every competitor quote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300216" y="2871216"/>
            <a:ext cx="182880" cy="182880"/>
          </a:xfrm>
          <a:prstGeom prst="ellipse">
            <a:avLst/>
          </a:prstGeom>
          <a:solidFill>
            <a:srgbClr val="9B6B00"/>
          </a:solidFill>
          <a:ln w="12700">
            <a:solidFill>
              <a:srgbClr val="9B6B0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9" name="Text 37"/>
          <p:cNvSpPr/>
          <p:nvPr/>
        </p:nvSpPr>
        <p:spPr>
          <a:xfrm>
            <a:off x="6574536" y="2843784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Analyze price gaps by tier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6300216" y="3401568"/>
            <a:ext cx="182880" cy="182880"/>
          </a:xfrm>
          <a:prstGeom prst="ellipse">
            <a:avLst/>
          </a:prstGeom>
          <a:solidFill>
            <a:srgbClr val="9B6B00"/>
          </a:solidFill>
          <a:ln w="12700">
            <a:solidFill>
              <a:srgbClr val="9B6B0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1" name="Text 39"/>
          <p:cNvSpPr/>
          <p:nvPr/>
        </p:nvSpPr>
        <p:spPr>
          <a:xfrm>
            <a:off x="6574536" y="3374136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Deploy the right retention tool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6300216" y="3931920"/>
            <a:ext cx="182880" cy="182880"/>
          </a:xfrm>
          <a:prstGeom prst="ellipse">
            <a:avLst/>
          </a:prstGeom>
          <a:solidFill>
            <a:srgbClr val="9B6B00"/>
          </a:solidFill>
          <a:ln w="12700">
            <a:solidFill>
              <a:srgbClr val="9B6B0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3" name="Text 41"/>
          <p:cNvSpPr/>
          <p:nvPr/>
        </p:nvSpPr>
        <p:spPr>
          <a:xfrm>
            <a:off x="6574536" y="3904488"/>
            <a:ext cx="2103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Track win/loss outcomes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3127248" y="2743200"/>
            <a:ext cx="256032" cy="256032"/>
          </a:xfrm>
          <a:prstGeom prst="rect">
            <a:avLst/>
          </a:prstGeom>
          <a:solidFill>
            <a:srgbClr val="64748B">
              <a:alpha val="40000"/>
            </a:srgbClr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5" name="Text 43"/>
          <p:cNvSpPr/>
          <p:nvPr/>
        </p:nvSpPr>
        <p:spPr>
          <a:xfrm>
            <a:off x="3108960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  <p:sp>
        <p:nvSpPr>
          <p:cNvPr id="46" name="Shape 44"/>
          <p:cNvSpPr/>
          <p:nvPr/>
        </p:nvSpPr>
        <p:spPr>
          <a:xfrm>
            <a:off x="5980176" y="2743200"/>
            <a:ext cx="256032" cy="256032"/>
          </a:xfrm>
          <a:prstGeom prst="rect">
            <a:avLst/>
          </a:prstGeom>
          <a:solidFill>
            <a:srgbClr val="64748B">
              <a:alpha val="40000"/>
            </a:srgbClr>
          </a:solidFill>
          <a:ln w="6350">
            <a:solidFill>
              <a:srgbClr val="64748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7" name="Text 45"/>
          <p:cNvSpPr/>
          <p:nvPr/>
        </p:nvSpPr>
        <p:spPr>
          <a:xfrm>
            <a:off x="5961888" y="271576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64748B"/>
                </a:solidFill>
              </a:rPr>
              <a:t>→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6E4F7"/>
                </a:solidFill>
              </a:rPr>
              <a:t>SECTION 3 — DATA &amp; METHODOLOGY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Text 3"/>
          <p:cNvSpPr/>
          <p:nvPr/>
        </p:nvSpPr>
        <p:spPr>
          <a:xfrm>
            <a:off x="365760" y="49286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Resolv Corporation  |  Performance Dashboard Project  |  Q1 2026  |  Placeholder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</a:rPr>
              <a:t>Where the Data Comes From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11480" y="1234440"/>
            <a:ext cx="41148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Data Sources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600200"/>
            <a:ext cx="4114800" cy="530352"/>
          </a:xfrm>
          <a:prstGeom prst="rect">
            <a:avLst/>
          </a:prstGeom>
          <a:solidFill>
            <a:srgbClr val="EEF4FC"/>
          </a:solidFill>
          <a:ln w="635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Shape 7"/>
          <p:cNvSpPr/>
          <p:nvPr/>
        </p:nvSpPr>
        <p:spPr>
          <a:xfrm>
            <a:off x="411480" y="1600200"/>
            <a:ext cx="45720" cy="53035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0" name="Text 8"/>
          <p:cNvSpPr/>
          <p:nvPr/>
        </p:nvSpPr>
        <p:spPr>
          <a:xfrm>
            <a:off x="566928" y="164592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CRM System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66928" y="185623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Customer accounts, competitive quotes, retention outcomes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411480" y="2203704"/>
            <a:ext cx="4114800" cy="530352"/>
          </a:xfrm>
          <a:prstGeom prst="rect">
            <a:avLst/>
          </a:prstGeom>
          <a:solidFill>
            <a:srgbClr val="EEF4FC"/>
          </a:solidFill>
          <a:ln w="635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Shape 11"/>
          <p:cNvSpPr/>
          <p:nvPr/>
        </p:nvSpPr>
        <p:spPr>
          <a:xfrm>
            <a:off x="411480" y="2203704"/>
            <a:ext cx="45720" cy="53035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4" name="Text 12"/>
          <p:cNvSpPr/>
          <p:nvPr/>
        </p:nvSpPr>
        <p:spPr>
          <a:xfrm>
            <a:off x="566928" y="224942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ERP / Order System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66928" y="245973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Shipment records, rejection logs, return details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11480" y="2807208"/>
            <a:ext cx="4114800" cy="530352"/>
          </a:xfrm>
          <a:prstGeom prst="rect">
            <a:avLst/>
          </a:prstGeom>
          <a:solidFill>
            <a:srgbClr val="EEF4FC"/>
          </a:solidFill>
          <a:ln w="635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7" name="Shape 15"/>
          <p:cNvSpPr/>
          <p:nvPr/>
        </p:nvSpPr>
        <p:spPr>
          <a:xfrm>
            <a:off x="411480" y="2807208"/>
            <a:ext cx="45720" cy="53035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8" name="Text 16"/>
          <p:cNvSpPr/>
          <p:nvPr/>
        </p:nvSpPr>
        <p:spPr>
          <a:xfrm>
            <a:off x="566928" y="285292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Customer Survey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063240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NPS scores, satisfaction ratings, brand recall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11480" y="3410712"/>
            <a:ext cx="4114800" cy="530352"/>
          </a:xfrm>
          <a:prstGeom prst="rect">
            <a:avLst/>
          </a:prstGeom>
          <a:solidFill>
            <a:srgbClr val="EEF4FC"/>
          </a:solidFill>
          <a:ln w="635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1" name="Shape 19"/>
          <p:cNvSpPr/>
          <p:nvPr/>
        </p:nvSpPr>
        <p:spPr>
          <a:xfrm>
            <a:off x="411480" y="3410712"/>
            <a:ext cx="45720" cy="53035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2" name="Text 20"/>
          <p:cNvSpPr/>
          <p:nvPr/>
        </p:nvSpPr>
        <p:spPr>
          <a:xfrm>
            <a:off x="566928" y="3456432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Sales Team Reports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66928" y="3666744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Competitor prices shared by customers in the field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11480" y="4014216"/>
            <a:ext cx="4114800" cy="530352"/>
          </a:xfrm>
          <a:prstGeom prst="rect">
            <a:avLst/>
          </a:prstGeom>
          <a:solidFill>
            <a:srgbClr val="EEF4FC"/>
          </a:solidFill>
          <a:ln w="635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5" name="Shape 23"/>
          <p:cNvSpPr/>
          <p:nvPr/>
        </p:nvSpPr>
        <p:spPr>
          <a:xfrm>
            <a:off x="411480" y="4014216"/>
            <a:ext cx="45720" cy="53035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6" name="Text 24"/>
          <p:cNvSpPr/>
          <p:nvPr/>
        </p:nvSpPr>
        <p:spPr>
          <a:xfrm>
            <a:off x="566928" y="4059936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Quality Control Logs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66928" y="4270248"/>
            <a:ext cx="3886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Root cause coding for every rejection event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846320" y="1234440"/>
            <a:ext cx="3840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3A6B"/>
                </a:solidFill>
              </a:rPr>
              <a:t>How We Analyzed It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4846320" y="1600200"/>
            <a:ext cx="3840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30" name="Shape 28"/>
          <p:cNvSpPr/>
          <p:nvPr/>
        </p:nvSpPr>
        <p:spPr>
          <a:xfrm>
            <a:off x="4846320" y="1600200"/>
            <a:ext cx="54864" cy="640080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1" name="Text 29"/>
          <p:cNvSpPr/>
          <p:nvPr/>
        </p:nvSpPr>
        <p:spPr>
          <a:xfrm>
            <a:off x="5010912" y="166420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E5FA3"/>
                </a:solidFill>
              </a:rPr>
              <a:t>1  Collect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5010912" y="192024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Pull data from CRM, ERP, and surveys at quarter end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846320" y="2340864"/>
            <a:ext cx="3840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34" name="Shape 32"/>
          <p:cNvSpPr/>
          <p:nvPr/>
        </p:nvSpPr>
        <p:spPr>
          <a:xfrm>
            <a:off x="4846320" y="2340864"/>
            <a:ext cx="54864" cy="640080"/>
          </a:xfrm>
          <a:prstGeom prst="rect">
            <a:avLst/>
          </a:prstGeom>
          <a:solidFill>
            <a:srgbClr val="217A45"/>
          </a:solidFill>
          <a:ln w="12700">
            <a:solidFill>
              <a:srgbClr val="217A4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5" name="Text 33"/>
          <p:cNvSpPr/>
          <p:nvPr/>
        </p:nvSpPr>
        <p:spPr>
          <a:xfrm>
            <a:off x="5010912" y="240487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217A45"/>
                </a:solidFill>
              </a:rPr>
              <a:t>2  Validate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5010912" y="2660904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Check for errors, duplicates, and missing values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846320" y="3081528"/>
            <a:ext cx="3840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38" name="Shape 36"/>
          <p:cNvSpPr/>
          <p:nvPr/>
        </p:nvSpPr>
        <p:spPr>
          <a:xfrm>
            <a:off x="4846320" y="3081528"/>
            <a:ext cx="54864" cy="640080"/>
          </a:xfrm>
          <a:prstGeom prst="rect">
            <a:avLst/>
          </a:prstGeom>
          <a:solidFill>
            <a:srgbClr val="9B6B00"/>
          </a:solidFill>
          <a:ln w="12700">
            <a:solidFill>
              <a:srgbClr val="9B6B0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9" name="Text 37"/>
          <p:cNvSpPr/>
          <p:nvPr/>
        </p:nvSpPr>
        <p:spPr>
          <a:xfrm>
            <a:off x="5010912" y="3145536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9B6B00"/>
                </a:solidFill>
              </a:rPr>
              <a:t>3  Analyze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5010912" y="3401568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Calculate rates, trends, root causes, and price gaps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4846320" y="3822192"/>
            <a:ext cx="38404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42" name="Shape 40"/>
          <p:cNvSpPr/>
          <p:nvPr/>
        </p:nvSpPr>
        <p:spPr>
          <a:xfrm>
            <a:off x="4846320" y="3822192"/>
            <a:ext cx="54864" cy="64008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3" name="Text 41"/>
          <p:cNvSpPr/>
          <p:nvPr/>
        </p:nvSpPr>
        <p:spPr>
          <a:xfrm>
            <a:off x="5010912" y="3886200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3A6B"/>
                </a:solidFill>
              </a:rPr>
              <a:t>4  Report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5010912" y="414223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Compile findings into dashboard + leadership report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411480" y="4645152"/>
            <a:ext cx="8321040" cy="201168"/>
          </a:xfrm>
          <a:prstGeom prst="rect">
            <a:avLst/>
          </a:prstGeom>
          <a:solidFill>
            <a:srgbClr val="FFF3CD"/>
          </a:solidFill>
          <a:ln w="635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6" name="Text 44"/>
          <p:cNvSpPr/>
          <p:nvPr/>
        </p:nvSpPr>
        <p:spPr>
          <a:xfrm>
            <a:off x="502920" y="464972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/>
              <a:t>Note: All figures in this project are illustrative placeholder data — designed to demonstrate the system. Real data would come from Resolv's live CRM and ERP.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6E4F7"/>
                </a:solidFill>
              </a:rPr>
              <a:t>SECTION 4 — KEY FINDINGS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Text 3"/>
          <p:cNvSpPr/>
          <p:nvPr/>
        </p:nvSpPr>
        <p:spPr>
          <a:xfrm>
            <a:off x="365760" y="49286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Resolv Corporation  |  Performance Dashboard Project  |  Q1 2026  |  Placeholder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</a:rPr>
              <a:t>Key Results at a Glance — Q1 2026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All four headline KPIs exceeded their targets this quarter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1444752"/>
            <a:ext cx="1965960" cy="1078992"/>
          </a:xfrm>
          <a:prstGeom prst="rect">
            <a:avLst/>
          </a:prstGeom>
          <a:solidFill>
            <a:srgbClr val="D4EDDA"/>
          </a:solidFill>
          <a:ln w="19050">
            <a:solidFill>
              <a:srgbClr val="217A45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9" name="Shape 7"/>
          <p:cNvSpPr/>
          <p:nvPr/>
        </p:nvSpPr>
        <p:spPr>
          <a:xfrm>
            <a:off x="320040" y="1444752"/>
            <a:ext cx="64008" cy="1078992"/>
          </a:xfrm>
          <a:prstGeom prst="rect">
            <a:avLst/>
          </a:prstGeom>
          <a:solidFill>
            <a:srgbClr val="217A45"/>
          </a:solidFill>
          <a:ln w="12700">
            <a:solidFill>
              <a:srgbClr val="217A4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0" name="Text 8"/>
          <p:cNvSpPr/>
          <p:nvPr/>
        </p:nvSpPr>
        <p:spPr>
          <a:xfrm>
            <a:off x="457200" y="15361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7A45"/>
                </a:solidFill>
              </a:rPr>
              <a:t>1.8%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457200" y="20116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Rejection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7200" y="22219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↓ 69% vs Q1 2025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423160" y="1444752"/>
            <a:ext cx="1965960" cy="1078992"/>
          </a:xfrm>
          <a:prstGeom prst="rect">
            <a:avLst/>
          </a:prstGeom>
          <a:solidFill>
            <a:srgbClr val="EEF4FC"/>
          </a:solidFill>
          <a:ln w="19050">
            <a:solidFill>
              <a:srgbClr val="2E5FA3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4" name="Shape 12"/>
          <p:cNvSpPr/>
          <p:nvPr/>
        </p:nvSpPr>
        <p:spPr>
          <a:xfrm>
            <a:off x="2423160" y="1444752"/>
            <a:ext cx="64008" cy="107899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Text 13"/>
          <p:cNvSpPr/>
          <p:nvPr/>
        </p:nvSpPr>
        <p:spPr>
          <a:xfrm>
            <a:off x="2560320" y="15361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5FA3"/>
                </a:solidFill>
              </a:rPr>
              <a:t>94.2%</a:t>
            </a:r>
            <a:endParaRPr lang="en-US" sz="3000" dirty="0"/>
          </a:p>
        </p:txBody>
      </p:sp>
      <p:sp>
        <p:nvSpPr>
          <p:cNvPr id="16" name="Text 14"/>
          <p:cNvSpPr/>
          <p:nvPr/>
        </p:nvSpPr>
        <p:spPr>
          <a:xfrm>
            <a:off x="2560320" y="20116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Customer Retention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2560320" y="22219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↑ 1.4 pts vs Q4 2025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4526280" y="1444752"/>
            <a:ext cx="1965960" cy="1078992"/>
          </a:xfrm>
          <a:prstGeom prst="rect">
            <a:avLst/>
          </a:prstGeom>
          <a:solidFill>
            <a:srgbClr val="FFF3CD"/>
          </a:solidFill>
          <a:ln w="19050">
            <a:solidFill>
              <a:srgbClr val="B8860B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9" name="Shape 17"/>
          <p:cNvSpPr/>
          <p:nvPr/>
        </p:nvSpPr>
        <p:spPr>
          <a:xfrm>
            <a:off x="4526280" y="1444752"/>
            <a:ext cx="64008" cy="107899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0" name="Text 18"/>
          <p:cNvSpPr/>
          <p:nvPr/>
        </p:nvSpPr>
        <p:spPr>
          <a:xfrm>
            <a:off x="4663440" y="15361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860B"/>
                </a:solidFill>
              </a:rPr>
              <a:t>87%</a:t>
            </a:r>
            <a:endParaRPr lang="en-US" sz="3000" dirty="0"/>
          </a:p>
        </p:txBody>
      </p:sp>
      <p:sp>
        <p:nvSpPr>
          <p:cNvPr id="21" name="Text 19"/>
          <p:cNvSpPr/>
          <p:nvPr/>
        </p:nvSpPr>
        <p:spPr>
          <a:xfrm>
            <a:off x="4663440" y="20116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Price Challenge Win Rate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663440" y="22219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27 of 31 accounts retained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6629400" y="1444752"/>
            <a:ext cx="1965960" cy="1078992"/>
          </a:xfrm>
          <a:prstGeom prst="rect">
            <a:avLst/>
          </a:prstGeom>
          <a:solidFill>
            <a:srgbClr val="EEF4FC"/>
          </a:solidFill>
          <a:ln w="1905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24" name="Shape 22"/>
          <p:cNvSpPr/>
          <p:nvPr/>
        </p:nvSpPr>
        <p:spPr>
          <a:xfrm>
            <a:off x="6629400" y="1444752"/>
            <a:ext cx="64008" cy="10789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5" name="Text 23"/>
          <p:cNvSpPr/>
          <p:nvPr/>
        </p:nvSpPr>
        <p:spPr>
          <a:xfrm>
            <a:off x="6766560" y="1536192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</a:rPr>
              <a:t>68</a:t>
            </a:r>
            <a:endParaRPr lang="en-US" sz="3000" dirty="0"/>
          </a:p>
        </p:txBody>
      </p:sp>
      <p:sp>
        <p:nvSpPr>
          <p:cNvPr id="26" name="Text 24"/>
          <p:cNvSpPr/>
          <p:nvPr/>
        </p:nvSpPr>
        <p:spPr>
          <a:xfrm>
            <a:off x="6766560" y="2011680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Net Promoter Score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766560" y="2221992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Target 65+  ·  ↑ 7 pts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0040" y="2670048"/>
            <a:ext cx="1965960" cy="1078992"/>
          </a:xfrm>
          <a:prstGeom prst="rect">
            <a:avLst/>
          </a:prstGeom>
          <a:solidFill>
            <a:srgbClr val="D4EDDA"/>
          </a:solidFill>
          <a:ln w="19050">
            <a:solidFill>
              <a:srgbClr val="217A45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29" name="Shape 27"/>
          <p:cNvSpPr/>
          <p:nvPr/>
        </p:nvSpPr>
        <p:spPr>
          <a:xfrm>
            <a:off x="320040" y="2670048"/>
            <a:ext cx="64008" cy="1078992"/>
          </a:xfrm>
          <a:prstGeom prst="rect">
            <a:avLst/>
          </a:prstGeom>
          <a:solidFill>
            <a:srgbClr val="217A45"/>
          </a:solidFill>
          <a:ln w="12700">
            <a:solidFill>
              <a:srgbClr val="217A4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0" name="Text 28"/>
          <p:cNvSpPr/>
          <p:nvPr/>
        </p:nvSpPr>
        <p:spPr>
          <a:xfrm>
            <a:off x="457200" y="27614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17A45"/>
                </a:solidFill>
              </a:rPr>
              <a:t>96%</a:t>
            </a:r>
            <a:endParaRPr lang="en-US" sz="3000" dirty="0"/>
          </a:p>
        </p:txBody>
      </p:sp>
      <p:sp>
        <p:nvSpPr>
          <p:cNvPr id="31" name="Text 29"/>
          <p:cNvSpPr/>
          <p:nvPr/>
        </p:nvSpPr>
        <p:spPr>
          <a:xfrm>
            <a:off x="457200" y="32369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On-Time Delivery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457200" y="34472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Exceeds 95% target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2423160" y="2670048"/>
            <a:ext cx="1965960" cy="1078992"/>
          </a:xfrm>
          <a:prstGeom prst="rect">
            <a:avLst/>
          </a:prstGeom>
          <a:solidFill>
            <a:srgbClr val="EEF4FC"/>
          </a:solidFill>
          <a:ln w="19050">
            <a:solidFill>
              <a:srgbClr val="2E5FA3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34" name="Shape 32"/>
          <p:cNvSpPr/>
          <p:nvPr/>
        </p:nvSpPr>
        <p:spPr>
          <a:xfrm>
            <a:off x="2423160" y="2670048"/>
            <a:ext cx="64008" cy="107899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5" name="Text 33"/>
          <p:cNvSpPr/>
          <p:nvPr/>
        </p:nvSpPr>
        <p:spPr>
          <a:xfrm>
            <a:off x="2560320" y="27614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2E5FA3"/>
                </a:solidFill>
              </a:rPr>
              <a:t>79%</a:t>
            </a:r>
            <a:endParaRPr lang="en-US" sz="3000" dirty="0"/>
          </a:p>
        </p:txBody>
      </p:sp>
      <p:sp>
        <p:nvSpPr>
          <p:cNvPr id="36" name="Text 34"/>
          <p:cNvSpPr/>
          <p:nvPr/>
        </p:nvSpPr>
        <p:spPr>
          <a:xfrm>
            <a:off x="2560320" y="32369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Brand Name Recognition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2560320" y="34472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Up from 65% in Q1 2025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4526280" y="2670048"/>
            <a:ext cx="1965960" cy="1078992"/>
          </a:xfrm>
          <a:prstGeom prst="rect">
            <a:avLst/>
          </a:prstGeom>
          <a:solidFill>
            <a:srgbClr val="FFF3CD"/>
          </a:solidFill>
          <a:ln w="19050">
            <a:solidFill>
              <a:srgbClr val="B8860B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39" name="Shape 37"/>
          <p:cNvSpPr/>
          <p:nvPr/>
        </p:nvSpPr>
        <p:spPr>
          <a:xfrm>
            <a:off x="4526280" y="2670048"/>
            <a:ext cx="64008" cy="107899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0" name="Text 38"/>
          <p:cNvSpPr/>
          <p:nvPr/>
        </p:nvSpPr>
        <p:spPr>
          <a:xfrm>
            <a:off x="4663440" y="27614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B8860B"/>
                </a:solidFill>
              </a:rPr>
              <a:t>$97K</a:t>
            </a:r>
            <a:endParaRPr lang="en-US" sz="3000" dirty="0"/>
          </a:p>
        </p:txBody>
      </p:sp>
      <p:sp>
        <p:nvSpPr>
          <p:cNvPr id="41" name="Text 39"/>
          <p:cNvSpPr/>
          <p:nvPr/>
        </p:nvSpPr>
        <p:spPr>
          <a:xfrm>
            <a:off x="4663440" y="32369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Rejection Savings Q1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4663440" y="34472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Sample program prevented 23 rejections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6629400" y="2670048"/>
            <a:ext cx="1965960" cy="1078992"/>
          </a:xfrm>
          <a:prstGeom prst="rect">
            <a:avLst/>
          </a:prstGeom>
          <a:solidFill>
            <a:srgbClr val="EEF4FC"/>
          </a:solidFill>
          <a:ln w="19050">
            <a:solidFill>
              <a:srgbClr val="1B3A6B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44" name="Shape 42"/>
          <p:cNvSpPr/>
          <p:nvPr/>
        </p:nvSpPr>
        <p:spPr>
          <a:xfrm>
            <a:off x="6629400" y="2670048"/>
            <a:ext cx="64008" cy="107899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5" name="Text 43"/>
          <p:cNvSpPr/>
          <p:nvPr/>
        </p:nvSpPr>
        <p:spPr>
          <a:xfrm>
            <a:off x="6766560" y="2761488"/>
            <a:ext cx="1783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3A6B"/>
                </a:solidFill>
              </a:rPr>
              <a:t>4.5/5</a:t>
            </a:r>
            <a:endParaRPr lang="en-US" sz="3000" dirty="0"/>
          </a:p>
        </p:txBody>
      </p:sp>
      <p:sp>
        <p:nvSpPr>
          <p:cNvPr id="46" name="Text 44"/>
          <p:cNvSpPr/>
          <p:nvPr/>
        </p:nvSpPr>
        <p:spPr>
          <a:xfrm>
            <a:off x="6766560" y="3236976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1A2E"/>
                </a:solidFill>
              </a:rPr>
              <a:t>Quality Rating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6766560" y="3447288"/>
            <a:ext cx="1783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Target 4.4  ·  Record high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320040" y="3904488"/>
            <a:ext cx="8503920" cy="658368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9" name="Text 47"/>
          <p:cNvSpPr/>
          <p:nvPr/>
        </p:nvSpPr>
        <p:spPr>
          <a:xfrm>
            <a:off x="502920" y="393192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FFFFFF"/>
                </a:solidFill>
              </a:rPr>
              <a:t>Key insight:  The more samples sent, the fewer rejections received — and the stronger the brand, the less price-sensitive customers become. All three pillars compound each other.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6E4F7"/>
                </a:solidFill>
              </a:rPr>
              <a:t>SECTION 4A — BRANDING FINDINGS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Text 3"/>
          <p:cNvSpPr/>
          <p:nvPr/>
        </p:nvSpPr>
        <p:spPr>
          <a:xfrm>
            <a:off x="365760" y="49286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Resolv Corporation  |  Performance Dashboard Project  |  Q1 2026  |  Placeholder Data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</a:rPr>
              <a:t>Pillar I — Branding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How strong is the Resolv brand and is it getting stronger?</a:t>
            </a:r>
            <a:endParaRPr lang="en-US" sz="11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325880"/>
          <a:ext cx="5943600" cy="2926077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85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Q4 2025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Q1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Promoter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65+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 Recognition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74%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Consistency (/5)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3.9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4.4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On-Time Delivery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93%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CSAT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86%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8011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Brand Recall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38%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49%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217A45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Above 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8ECF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graphicFrame>
        <p:nvGraphicFramePr>
          <p:cNvPr id="10" name="Chart 0"/>
          <p:cNvGraphicFramePr/>
          <p:nvPr>
            <p:extLst>
              <p:ext uri="{D42A27DB-BD31-4B8C-83A1-F6EECF244321}">
                <p14:modId xmlns:p14="http://schemas.microsoft.com/office/powerpoint/2010/main" val="2402881293"/>
              </p:ext>
            </p:extLst>
          </p:nvPr>
        </p:nvGraphicFramePr>
        <p:xfrm>
          <a:off x="5875809" y="1325880"/>
          <a:ext cx="310896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1" name="Shape 7"/>
          <p:cNvSpPr/>
          <p:nvPr/>
        </p:nvSpPr>
        <p:spPr>
          <a:xfrm>
            <a:off x="411480" y="4370832"/>
            <a:ext cx="8321040" cy="429768"/>
          </a:xfrm>
          <a:prstGeom prst="rect">
            <a:avLst/>
          </a:prstGeom>
          <a:solidFill>
            <a:srgbClr val="EEF4FC"/>
          </a:solidFill>
          <a:ln w="6350">
            <a:solidFill>
              <a:srgbClr val="D6E4F7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2" name="Text 8"/>
          <p:cNvSpPr/>
          <p:nvPr/>
        </p:nvSpPr>
        <p:spPr>
          <a:xfrm>
            <a:off x="548640" y="4389120"/>
            <a:ext cx="8138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3A6B"/>
                </a:solidFill>
              </a:rPr>
              <a:t>All 6 brand metrics exceeded their Q1 2026 targets — the first time all targets were met in the same quarter. The sample program is the key driver of brand recall growth.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6E4F7"/>
                </a:solidFill>
              </a:rPr>
              <a:t>SECTION 4B — REJECTION MANAGEMENT FINDINGS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Text 3"/>
          <p:cNvSpPr/>
          <p:nvPr/>
        </p:nvSpPr>
        <p:spPr>
          <a:xfrm>
            <a:off x="365760" y="49286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Resolv Corporation  |  Performance Dashboard Project  |  Q1 2026  |  Placeholder Data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</a:rPr>
              <a:t>Pillar II — Rejection Management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As samples go up, rejections come down — every single quarter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11480" y="1325880"/>
          <a:ext cx="4206240" cy="23317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4754880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17A45"/>
                </a:solidFill>
              </a:rPr>
              <a:t>69%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4754880" y="1938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Rejection rate reduction (Q1 2025 → Q1 2026)</a:t>
            </a:r>
            <a:endParaRPr lang="en-US" sz="900" dirty="0"/>
          </a:p>
        </p:txBody>
      </p:sp>
      <p:sp>
        <p:nvSpPr>
          <p:cNvPr id="12" name="Text 9"/>
          <p:cNvSpPr/>
          <p:nvPr/>
        </p:nvSpPr>
        <p:spPr>
          <a:xfrm>
            <a:off x="6766560" y="137160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E5FA3"/>
                </a:solidFill>
              </a:rPr>
              <a:t>23</a:t>
            </a:r>
            <a:endParaRPr lang="en-US" sz="3600" dirty="0"/>
          </a:p>
        </p:txBody>
      </p:sp>
      <p:sp>
        <p:nvSpPr>
          <p:cNvPr id="13" name="Text 10"/>
          <p:cNvSpPr/>
          <p:nvPr/>
        </p:nvSpPr>
        <p:spPr>
          <a:xfrm>
            <a:off x="6766560" y="19385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Rejections prevented by sample program in Q1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4754880" y="2468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9B6B00"/>
                </a:solidFill>
              </a:rPr>
              <a:t>$97K</a:t>
            </a:r>
            <a:endParaRPr lang="en-US" sz="3600" dirty="0"/>
          </a:p>
        </p:txBody>
      </p:sp>
      <p:sp>
        <p:nvSpPr>
          <p:cNvPr id="15" name="Text 12"/>
          <p:cNvSpPr/>
          <p:nvPr/>
        </p:nvSpPr>
        <p:spPr>
          <a:xfrm>
            <a:off x="4754880" y="30358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Estimated savings Q1 2026 alone</a:t>
            </a:r>
            <a:endParaRPr lang="en-US" sz="900" dirty="0"/>
          </a:p>
        </p:txBody>
      </p:sp>
      <p:sp>
        <p:nvSpPr>
          <p:cNvPr id="16" name="Text 13"/>
          <p:cNvSpPr/>
          <p:nvPr/>
        </p:nvSpPr>
        <p:spPr>
          <a:xfrm>
            <a:off x="6766560" y="2468880"/>
            <a:ext cx="19202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217A45"/>
                </a:solidFill>
              </a:rPr>
              <a:t>92%</a:t>
            </a:r>
            <a:endParaRPr lang="en-US" sz="3600" dirty="0"/>
          </a:p>
        </p:txBody>
      </p:sp>
      <p:sp>
        <p:nvSpPr>
          <p:cNvPr id="17" name="Text 14"/>
          <p:cNvSpPr/>
          <p:nvPr/>
        </p:nvSpPr>
        <p:spPr>
          <a:xfrm>
            <a:off x="6766560" y="303580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64748B"/>
                </a:solidFill>
              </a:rPr>
              <a:t>Overall sample approval rate Q1 2026</a:t>
            </a:r>
            <a:endParaRPr lang="en-US" sz="900" dirty="0"/>
          </a:p>
        </p:txBody>
      </p:sp>
      <p:sp>
        <p:nvSpPr>
          <p:cNvPr id="18" name="Text 15"/>
          <p:cNvSpPr/>
          <p:nvPr/>
        </p:nvSpPr>
        <p:spPr>
          <a:xfrm>
            <a:off x="411480" y="3749040"/>
            <a:ext cx="5029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Root Cause Breakdown (Q1 2026)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11480" y="4069080"/>
            <a:ext cx="2606040" cy="713232"/>
          </a:xfrm>
          <a:prstGeom prst="rect">
            <a:avLst/>
          </a:prstGeom>
          <a:solidFill>
            <a:srgbClr val="F5F7FB"/>
          </a:solidFill>
          <a:ln w="635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0" name="Text 17"/>
          <p:cNvSpPr/>
          <p:nvPr/>
        </p:nvSpPr>
        <p:spPr>
          <a:xfrm>
            <a:off x="521208" y="411480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9B2335"/>
                </a:solidFill>
              </a:rPr>
              <a:t>43%</a:t>
            </a:r>
            <a:endParaRPr lang="en-US" sz="2000" dirty="0"/>
          </a:p>
        </p:txBody>
      </p:sp>
      <p:sp>
        <p:nvSpPr>
          <p:cNvPr id="21" name="Text 18"/>
          <p:cNvSpPr/>
          <p:nvPr/>
        </p:nvSpPr>
        <p:spPr>
          <a:xfrm>
            <a:off x="521208" y="4434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Application mismatch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21208" y="461772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Preventable via samples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3200400" y="4069080"/>
            <a:ext cx="2606040" cy="713232"/>
          </a:xfrm>
          <a:prstGeom prst="rect">
            <a:avLst/>
          </a:prstGeom>
          <a:solidFill>
            <a:srgbClr val="F5F7FB"/>
          </a:solidFill>
          <a:ln w="635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4" name="Text 21"/>
          <p:cNvSpPr/>
          <p:nvPr/>
        </p:nvSpPr>
        <p:spPr>
          <a:xfrm>
            <a:off x="3310128" y="411480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B8860B"/>
                </a:solidFill>
              </a:rPr>
              <a:t>29%</a:t>
            </a:r>
            <a:endParaRPr lang="en-US" sz="2000" dirty="0"/>
          </a:p>
        </p:txBody>
      </p:sp>
      <p:sp>
        <p:nvSpPr>
          <p:cNvPr id="25" name="Text 22"/>
          <p:cNvSpPr/>
          <p:nvPr/>
        </p:nvSpPr>
        <p:spPr>
          <a:xfrm>
            <a:off x="3310128" y="4434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Spec deviation</a:t>
            </a:r>
            <a:endParaRPr lang="en-US" sz="1000" dirty="0"/>
          </a:p>
        </p:txBody>
      </p:sp>
      <p:sp>
        <p:nvSpPr>
          <p:cNvPr id="26" name="Text 23"/>
          <p:cNvSpPr/>
          <p:nvPr/>
        </p:nvSpPr>
        <p:spPr>
          <a:xfrm>
            <a:off x="3310128" y="461772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Process updated</a:t>
            </a:r>
            <a:endParaRPr lang="en-US" sz="900" dirty="0"/>
          </a:p>
        </p:txBody>
      </p:sp>
      <p:sp>
        <p:nvSpPr>
          <p:cNvPr id="27" name="Shape 24"/>
          <p:cNvSpPr/>
          <p:nvPr/>
        </p:nvSpPr>
        <p:spPr>
          <a:xfrm>
            <a:off x="5989320" y="4069080"/>
            <a:ext cx="2606040" cy="713232"/>
          </a:xfrm>
          <a:prstGeom prst="rect">
            <a:avLst/>
          </a:prstGeom>
          <a:solidFill>
            <a:srgbClr val="F5F7FB"/>
          </a:solidFill>
          <a:ln w="635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8" name="Text 25"/>
          <p:cNvSpPr/>
          <p:nvPr/>
        </p:nvSpPr>
        <p:spPr>
          <a:xfrm>
            <a:off x="6099048" y="4114800"/>
            <a:ext cx="7315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5FA3"/>
                </a:solidFill>
              </a:rPr>
              <a:t>28%</a:t>
            </a:r>
            <a:endParaRPr lang="en-US" sz="2000" dirty="0"/>
          </a:p>
        </p:txBody>
      </p:sp>
      <p:sp>
        <p:nvSpPr>
          <p:cNvPr id="29" name="Text 26"/>
          <p:cNvSpPr/>
          <p:nvPr/>
        </p:nvSpPr>
        <p:spPr>
          <a:xfrm>
            <a:off x="6099048" y="443484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Other causes</a:t>
            </a:r>
            <a:endParaRPr lang="en-US" sz="1000" dirty="0"/>
          </a:p>
        </p:txBody>
      </p:sp>
      <p:sp>
        <p:nvSpPr>
          <p:cNvPr id="30" name="Text 27"/>
          <p:cNvSpPr/>
          <p:nvPr/>
        </p:nvSpPr>
        <p:spPr>
          <a:xfrm>
            <a:off x="6099048" y="4617720"/>
            <a:ext cx="23774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Under review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6E4F7"/>
                </a:solidFill>
              </a:rPr>
              <a:t>SECTION 4C — COMPETITIVE PRICING FINDINGS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Text 3"/>
          <p:cNvSpPr/>
          <p:nvPr/>
        </p:nvSpPr>
        <p:spPr>
          <a:xfrm>
            <a:off x="365760" y="49286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Resolv Corporation  |  Performance Dashboard Project  |  Q1 2026  |  Placeholder Data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457200" y="621792"/>
            <a:ext cx="82296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B3A6B"/>
                </a:solidFill>
              </a:rPr>
              <a:t>Pillar III — Competitive Pricing</a:t>
            </a:r>
            <a:endParaRPr lang="en-US" sz="2400" dirty="0"/>
          </a:p>
        </p:txBody>
      </p:sp>
      <p:sp>
        <p:nvSpPr>
          <p:cNvPr id="8" name="Text 6"/>
          <p:cNvSpPr/>
          <p:nvPr/>
        </p:nvSpPr>
        <p:spPr>
          <a:xfrm>
            <a:off x="457200" y="1005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64748B"/>
                </a:solidFill>
              </a:rPr>
              <a:t>87% of customers who received cheaper offers were successfully retained</a:t>
            </a:r>
            <a:endParaRPr lang="en-US" sz="11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411480" y="1298448"/>
          <a:ext cx="329184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Text 7"/>
          <p:cNvSpPr/>
          <p:nvPr/>
        </p:nvSpPr>
        <p:spPr>
          <a:xfrm>
            <a:off x="3886200" y="1298448"/>
            <a:ext cx="4846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Retention Lever Effectiveness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3886200" y="1627632"/>
            <a:ext cx="4828032" cy="320040"/>
          </a:xfrm>
          <a:prstGeom prst="rect">
            <a:avLst/>
          </a:prstGeom>
          <a:solidFill>
            <a:srgbClr val="F5F7FB"/>
          </a:solidFill>
          <a:ln w="381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2" name="Text 9"/>
          <p:cNvSpPr/>
          <p:nvPr/>
        </p:nvSpPr>
        <p:spPr>
          <a:xfrm>
            <a:off x="4005072" y="16824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Volume / Blanket Discount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8046720" y="168249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17A45"/>
                </a:solidFill>
              </a:rPr>
              <a:t>91%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7086600" y="1728216"/>
            <a:ext cx="2011680" cy="118872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Shape 12"/>
          <p:cNvSpPr/>
          <p:nvPr/>
        </p:nvSpPr>
        <p:spPr>
          <a:xfrm>
            <a:off x="7086600" y="1728216"/>
            <a:ext cx="1830629" cy="118872"/>
          </a:xfrm>
          <a:prstGeom prst="rect">
            <a:avLst/>
          </a:prstGeom>
          <a:solidFill>
            <a:srgbClr val="217A45"/>
          </a:solidFill>
          <a:ln w="12700">
            <a:solidFill>
              <a:srgbClr val="217A4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6" name="Shape 13"/>
          <p:cNvSpPr/>
          <p:nvPr/>
        </p:nvSpPr>
        <p:spPr>
          <a:xfrm>
            <a:off x="3886200" y="1993392"/>
            <a:ext cx="4828032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7" name="Text 14"/>
          <p:cNvSpPr/>
          <p:nvPr/>
        </p:nvSpPr>
        <p:spPr>
          <a:xfrm>
            <a:off x="4005072" y="204825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Bulk Packaging Credit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8046720" y="204825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17A45"/>
                </a:solidFill>
              </a:rPr>
              <a:t>88%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7086600" y="2093976"/>
            <a:ext cx="2011680" cy="118872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0" name="Shape 17"/>
          <p:cNvSpPr/>
          <p:nvPr/>
        </p:nvSpPr>
        <p:spPr>
          <a:xfrm>
            <a:off x="7086600" y="2093976"/>
            <a:ext cx="1770278" cy="118872"/>
          </a:xfrm>
          <a:prstGeom prst="rect">
            <a:avLst/>
          </a:prstGeom>
          <a:solidFill>
            <a:srgbClr val="217A45"/>
          </a:solidFill>
          <a:ln w="12700">
            <a:solidFill>
              <a:srgbClr val="217A4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1" name="Shape 18"/>
          <p:cNvSpPr/>
          <p:nvPr/>
        </p:nvSpPr>
        <p:spPr>
          <a:xfrm>
            <a:off x="3886200" y="2359152"/>
            <a:ext cx="4828032" cy="320040"/>
          </a:xfrm>
          <a:prstGeom prst="rect">
            <a:avLst/>
          </a:prstGeom>
          <a:solidFill>
            <a:srgbClr val="F5F7FB"/>
          </a:solidFill>
          <a:ln w="381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2" name="Text 19"/>
          <p:cNvSpPr/>
          <p:nvPr/>
        </p:nvSpPr>
        <p:spPr>
          <a:xfrm>
            <a:off x="4005072" y="241401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Order Lock-in Pricing</a:t>
            </a:r>
            <a:endParaRPr lang="en-US" sz="1000" dirty="0"/>
          </a:p>
        </p:txBody>
      </p:sp>
      <p:sp>
        <p:nvSpPr>
          <p:cNvPr id="23" name="Text 20"/>
          <p:cNvSpPr/>
          <p:nvPr/>
        </p:nvSpPr>
        <p:spPr>
          <a:xfrm>
            <a:off x="8046720" y="241401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17A45"/>
                </a:solidFill>
              </a:rPr>
              <a:t>83%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7086600" y="2459736"/>
            <a:ext cx="2011680" cy="118872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5" name="Shape 22"/>
          <p:cNvSpPr/>
          <p:nvPr/>
        </p:nvSpPr>
        <p:spPr>
          <a:xfrm>
            <a:off x="7086600" y="2459736"/>
            <a:ext cx="1669694" cy="118872"/>
          </a:xfrm>
          <a:prstGeom prst="rect">
            <a:avLst/>
          </a:prstGeom>
          <a:solidFill>
            <a:srgbClr val="217A45"/>
          </a:solidFill>
          <a:ln w="12700">
            <a:solidFill>
              <a:srgbClr val="217A4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6" name="Shape 23"/>
          <p:cNvSpPr/>
          <p:nvPr/>
        </p:nvSpPr>
        <p:spPr>
          <a:xfrm>
            <a:off x="3886200" y="2724912"/>
            <a:ext cx="4828032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7" name="Text 24"/>
          <p:cNvSpPr/>
          <p:nvPr/>
        </p:nvSpPr>
        <p:spPr>
          <a:xfrm>
            <a:off x="4005072" y="277977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Quality / Sample Argument</a:t>
            </a:r>
            <a:endParaRPr lang="en-US" sz="1000" dirty="0"/>
          </a:p>
        </p:txBody>
      </p:sp>
      <p:sp>
        <p:nvSpPr>
          <p:cNvPr id="28" name="Text 25"/>
          <p:cNvSpPr/>
          <p:nvPr/>
        </p:nvSpPr>
        <p:spPr>
          <a:xfrm>
            <a:off x="8046720" y="277977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217A45"/>
                </a:solidFill>
              </a:rPr>
              <a:t>80%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7086600" y="2825496"/>
            <a:ext cx="2011680" cy="118872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0" name="Shape 27"/>
          <p:cNvSpPr/>
          <p:nvPr/>
        </p:nvSpPr>
        <p:spPr>
          <a:xfrm>
            <a:off x="7086600" y="2825496"/>
            <a:ext cx="1609344" cy="118872"/>
          </a:xfrm>
          <a:prstGeom prst="rect">
            <a:avLst/>
          </a:prstGeom>
          <a:solidFill>
            <a:srgbClr val="217A45"/>
          </a:solidFill>
          <a:ln w="12700">
            <a:solidFill>
              <a:srgbClr val="217A4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1" name="Shape 28"/>
          <p:cNvSpPr/>
          <p:nvPr/>
        </p:nvSpPr>
        <p:spPr>
          <a:xfrm>
            <a:off x="3886200" y="3090672"/>
            <a:ext cx="4828032" cy="320040"/>
          </a:xfrm>
          <a:prstGeom prst="rect">
            <a:avLst/>
          </a:prstGeom>
          <a:solidFill>
            <a:srgbClr val="F5F7FB"/>
          </a:solidFill>
          <a:ln w="381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2" name="Text 29"/>
          <p:cNvSpPr/>
          <p:nvPr/>
        </p:nvSpPr>
        <p:spPr>
          <a:xfrm>
            <a:off x="4005072" y="314553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Partial Price Match</a:t>
            </a:r>
            <a:endParaRPr lang="en-US" sz="1000" dirty="0"/>
          </a:p>
        </p:txBody>
      </p:sp>
      <p:sp>
        <p:nvSpPr>
          <p:cNvPr id="33" name="Text 30"/>
          <p:cNvSpPr/>
          <p:nvPr/>
        </p:nvSpPr>
        <p:spPr>
          <a:xfrm>
            <a:off x="8046720" y="314553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B8860B"/>
                </a:solidFill>
              </a:rPr>
              <a:t>50%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7086600" y="3191256"/>
            <a:ext cx="2011680" cy="118872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5" name="Shape 32"/>
          <p:cNvSpPr/>
          <p:nvPr/>
        </p:nvSpPr>
        <p:spPr>
          <a:xfrm>
            <a:off x="7086600" y="3191256"/>
            <a:ext cx="1005840" cy="11887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6" name="Shape 33"/>
          <p:cNvSpPr/>
          <p:nvPr/>
        </p:nvSpPr>
        <p:spPr>
          <a:xfrm>
            <a:off x="3886200" y="3456432"/>
            <a:ext cx="4828032" cy="320040"/>
          </a:xfrm>
          <a:prstGeom prst="rect">
            <a:avLst/>
          </a:prstGeom>
          <a:solidFill>
            <a:srgbClr val="FFFFFF"/>
          </a:solidFill>
          <a:ln w="381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7" name="Text 34"/>
          <p:cNvSpPr/>
          <p:nvPr/>
        </p:nvSpPr>
        <p:spPr>
          <a:xfrm>
            <a:off x="4005072" y="3511296"/>
            <a:ext cx="32004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1A2E"/>
                </a:solidFill>
              </a:rPr>
              <a:t>No Action Taken</a:t>
            </a:r>
            <a:endParaRPr lang="en-US" sz="1000" dirty="0"/>
          </a:p>
        </p:txBody>
      </p:sp>
      <p:sp>
        <p:nvSpPr>
          <p:cNvPr id="38" name="Text 35"/>
          <p:cNvSpPr/>
          <p:nvPr/>
        </p:nvSpPr>
        <p:spPr>
          <a:xfrm>
            <a:off x="8046720" y="3511296"/>
            <a:ext cx="594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b="1" dirty="0">
                <a:solidFill>
                  <a:srgbClr val="9B2335"/>
                </a:solidFill>
              </a:rPr>
              <a:t>33%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7086600" y="3557016"/>
            <a:ext cx="2011680" cy="118872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0" name="Shape 37"/>
          <p:cNvSpPr/>
          <p:nvPr/>
        </p:nvSpPr>
        <p:spPr>
          <a:xfrm>
            <a:off x="7086600" y="3557016"/>
            <a:ext cx="663854" cy="118872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1" name="Text 38"/>
          <p:cNvSpPr/>
          <p:nvPr/>
        </p:nvSpPr>
        <p:spPr>
          <a:xfrm>
            <a:off x="411480" y="3840956"/>
            <a:ext cx="8321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Competitor win rates</a:t>
            </a:r>
            <a:endParaRPr lang="en-US" sz="1100" dirty="0"/>
          </a:p>
        </p:txBody>
      </p:sp>
      <p:sp>
        <p:nvSpPr>
          <p:cNvPr id="42" name="Shape 39"/>
          <p:cNvSpPr/>
          <p:nvPr/>
        </p:nvSpPr>
        <p:spPr>
          <a:xfrm>
            <a:off x="411480" y="4058063"/>
            <a:ext cx="1993392" cy="749808"/>
          </a:xfrm>
          <a:prstGeom prst="rect">
            <a:avLst/>
          </a:prstGeom>
          <a:solidFill>
            <a:srgbClr val="F5F7FB"/>
          </a:solidFill>
          <a:ln w="635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3" name="Text 40"/>
          <p:cNvSpPr/>
          <p:nvPr/>
        </p:nvSpPr>
        <p:spPr>
          <a:xfrm>
            <a:off x="502920" y="411808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7A45"/>
                </a:solidFill>
              </a:rPr>
              <a:t>79%</a:t>
            </a:r>
            <a:endParaRPr lang="en-US" sz="2200" dirty="0"/>
          </a:p>
        </p:txBody>
      </p:sp>
      <p:sp>
        <p:nvSpPr>
          <p:cNvPr id="44" name="Text 41"/>
          <p:cNvSpPr/>
          <p:nvPr/>
        </p:nvSpPr>
        <p:spPr>
          <a:xfrm>
            <a:off x="502920" y="4478538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Competitor A</a:t>
            </a:r>
            <a:endParaRPr lang="en-US" sz="1000" dirty="0"/>
          </a:p>
        </p:txBody>
      </p:sp>
      <p:sp>
        <p:nvSpPr>
          <p:cNvPr id="45" name="Text 42"/>
          <p:cNvSpPr/>
          <p:nvPr/>
        </p:nvSpPr>
        <p:spPr>
          <a:xfrm>
            <a:off x="502920" y="4611862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14 challenges</a:t>
            </a:r>
            <a:endParaRPr lang="en-US" sz="900" dirty="0"/>
          </a:p>
        </p:txBody>
      </p:sp>
      <p:sp>
        <p:nvSpPr>
          <p:cNvPr id="46" name="Shape 43"/>
          <p:cNvSpPr/>
          <p:nvPr/>
        </p:nvSpPr>
        <p:spPr>
          <a:xfrm>
            <a:off x="2551176" y="4041648"/>
            <a:ext cx="1993392" cy="749808"/>
          </a:xfrm>
          <a:prstGeom prst="rect">
            <a:avLst/>
          </a:prstGeom>
          <a:solidFill>
            <a:srgbClr val="F5F7FB"/>
          </a:solidFill>
          <a:ln w="635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7" name="Text 44"/>
          <p:cNvSpPr/>
          <p:nvPr/>
        </p:nvSpPr>
        <p:spPr>
          <a:xfrm>
            <a:off x="2633472" y="413356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B8860B"/>
                </a:solidFill>
              </a:rPr>
              <a:t>67%</a:t>
            </a:r>
            <a:endParaRPr lang="en-US" sz="2200" dirty="0"/>
          </a:p>
        </p:txBody>
      </p:sp>
      <p:sp>
        <p:nvSpPr>
          <p:cNvPr id="48" name="Text 45"/>
          <p:cNvSpPr/>
          <p:nvPr/>
        </p:nvSpPr>
        <p:spPr>
          <a:xfrm>
            <a:off x="2642616" y="4441095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Competitor B</a:t>
            </a:r>
            <a:endParaRPr lang="en-US" sz="1000" dirty="0"/>
          </a:p>
        </p:txBody>
      </p:sp>
      <p:sp>
        <p:nvSpPr>
          <p:cNvPr id="49" name="Text 46"/>
          <p:cNvSpPr/>
          <p:nvPr/>
        </p:nvSpPr>
        <p:spPr>
          <a:xfrm>
            <a:off x="2633472" y="4596543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9 challenges</a:t>
            </a:r>
            <a:endParaRPr lang="en-US" sz="900" dirty="0"/>
          </a:p>
        </p:txBody>
      </p:sp>
      <p:sp>
        <p:nvSpPr>
          <p:cNvPr id="50" name="Shape 47"/>
          <p:cNvSpPr/>
          <p:nvPr/>
        </p:nvSpPr>
        <p:spPr>
          <a:xfrm>
            <a:off x="4645152" y="4032504"/>
            <a:ext cx="1993392" cy="749808"/>
          </a:xfrm>
          <a:prstGeom prst="rect">
            <a:avLst/>
          </a:prstGeom>
          <a:solidFill>
            <a:srgbClr val="F5F7FB"/>
          </a:solidFill>
          <a:ln w="635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1" name="Text 48"/>
          <p:cNvSpPr/>
          <p:nvPr/>
        </p:nvSpPr>
        <p:spPr>
          <a:xfrm>
            <a:off x="4782312" y="407003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217A45"/>
                </a:solidFill>
              </a:rPr>
              <a:t>80%</a:t>
            </a:r>
            <a:endParaRPr lang="en-US" sz="2200" dirty="0"/>
          </a:p>
        </p:txBody>
      </p:sp>
      <p:sp>
        <p:nvSpPr>
          <p:cNvPr id="52" name="Text 49"/>
          <p:cNvSpPr/>
          <p:nvPr/>
        </p:nvSpPr>
        <p:spPr>
          <a:xfrm>
            <a:off x="4773168" y="4375609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Competitor C</a:t>
            </a:r>
            <a:endParaRPr lang="en-US" sz="1000" dirty="0"/>
          </a:p>
        </p:txBody>
      </p:sp>
      <p:sp>
        <p:nvSpPr>
          <p:cNvPr id="53" name="Text 50"/>
          <p:cNvSpPr/>
          <p:nvPr/>
        </p:nvSpPr>
        <p:spPr>
          <a:xfrm>
            <a:off x="4791456" y="4534948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5 challenges</a:t>
            </a:r>
            <a:endParaRPr lang="en-US" sz="900" dirty="0"/>
          </a:p>
        </p:txBody>
      </p:sp>
      <p:sp>
        <p:nvSpPr>
          <p:cNvPr id="54" name="Shape 51"/>
          <p:cNvSpPr/>
          <p:nvPr/>
        </p:nvSpPr>
        <p:spPr>
          <a:xfrm>
            <a:off x="6797196" y="4005072"/>
            <a:ext cx="1993392" cy="749808"/>
          </a:xfrm>
          <a:prstGeom prst="rect">
            <a:avLst/>
          </a:prstGeom>
          <a:solidFill>
            <a:srgbClr val="F5F7FB"/>
          </a:solidFill>
          <a:ln w="635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5" name="Text 52"/>
          <p:cNvSpPr/>
          <p:nvPr/>
        </p:nvSpPr>
        <p:spPr>
          <a:xfrm>
            <a:off x="6903720" y="409397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9B2335"/>
                </a:solidFill>
              </a:rPr>
              <a:t>33%</a:t>
            </a:r>
            <a:endParaRPr lang="en-US" sz="2200" dirty="0"/>
          </a:p>
        </p:txBody>
      </p:sp>
      <p:sp>
        <p:nvSpPr>
          <p:cNvPr id="56" name="Text 53"/>
          <p:cNvSpPr/>
          <p:nvPr/>
        </p:nvSpPr>
        <p:spPr>
          <a:xfrm>
            <a:off x="6922008" y="4423156"/>
            <a:ext cx="1828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1A2E"/>
                </a:solidFill>
              </a:rPr>
              <a:t>Unknown</a:t>
            </a:r>
            <a:endParaRPr lang="en-US" sz="1000" dirty="0"/>
          </a:p>
        </p:txBody>
      </p:sp>
      <p:sp>
        <p:nvSpPr>
          <p:cNvPr id="57" name="Text 54"/>
          <p:cNvSpPr/>
          <p:nvPr/>
        </p:nvSpPr>
        <p:spPr>
          <a:xfrm>
            <a:off x="6922008" y="457200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</a:rPr>
              <a:t>3 challenges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365760" y="49286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Resolv Corporation  |  Integrated Finding  |  Q1 2026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548640" y="4114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</a:rPr>
              <a:t>The Big Insight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548640" y="8686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9BB8E8"/>
                </a:solidFill>
              </a:rPr>
              <a:t>The three pillars do not work in isolation — they reinforce each other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2560320" cy="1554480"/>
          </a:xfrm>
          <a:prstGeom prst="rect">
            <a:avLst/>
          </a:prstGeom>
          <a:solidFill>
            <a:srgbClr val="243B6E"/>
          </a:solidFill>
          <a:ln w="19050">
            <a:solidFill>
              <a:srgbClr val="3A7BD5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7" name="Shape 5"/>
          <p:cNvSpPr/>
          <p:nvPr/>
        </p:nvSpPr>
        <p:spPr>
          <a:xfrm>
            <a:off x="548640" y="1417320"/>
            <a:ext cx="2560320" cy="54864"/>
          </a:xfrm>
          <a:prstGeom prst="rect">
            <a:avLst/>
          </a:prstGeom>
          <a:solidFill>
            <a:srgbClr val="3A7BD5"/>
          </a:solidFill>
          <a:ln w="12700">
            <a:solidFill>
              <a:srgbClr val="3A7BD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8" name="Text 6"/>
          <p:cNvSpPr/>
          <p:nvPr/>
        </p:nvSpPr>
        <p:spPr>
          <a:xfrm>
            <a:off x="68580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Strong Brand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85800" y="19476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8E8"/>
                </a:solidFill>
              </a:rPr>
              <a:t>Customers trust the name 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BB8E8"/>
                </a:solidFill>
              </a:rPr>
              <a:t>less sensitive to competitor prices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337560" y="1417320"/>
            <a:ext cx="2560320" cy="1554480"/>
          </a:xfrm>
          <a:prstGeom prst="rect">
            <a:avLst/>
          </a:prstGeom>
          <a:solidFill>
            <a:srgbClr val="243B6E"/>
          </a:solidFill>
          <a:ln w="19050">
            <a:solidFill>
              <a:srgbClr val="28A066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1" name="Shape 9"/>
          <p:cNvSpPr/>
          <p:nvPr/>
        </p:nvSpPr>
        <p:spPr>
          <a:xfrm>
            <a:off x="3337560" y="1417320"/>
            <a:ext cx="2560320" cy="54864"/>
          </a:xfrm>
          <a:prstGeom prst="rect">
            <a:avLst/>
          </a:prstGeom>
          <a:solidFill>
            <a:srgbClr val="28A066"/>
          </a:solidFill>
          <a:ln w="12700">
            <a:solidFill>
              <a:srgbClr val="28A066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2" name="Text 10"/>
          <p:cNvSpPr/>
          <p:nvPr/>
        </p:nvSpPr>
        <p:spPr>
          <a:xfrm>
            <a:off x="347472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Sample Program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9476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8E8"/>
                </a:solidFill>
              </a:rPr>
              <a:t>Tests product before delivery —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BB8E8"/>
                </a:solidFill>
              </a:rPr>
              <a:t>builds brand AND prevents rejections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26480" y="1417320"/>
            <a:ext cx="2560320" cy="1554480"/>
          </a:xfrm>
          <a:prstGeom prst="rect">
            <a:avLst/>
          </a:prstGeom>
          <a:solidFill>
            <a:srgbClr val="243B6E"/>
          </a:solidFill>
          <a:ln w="19050">
            <a:solidFill>
              <a:srgbClr val="E07A30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5" name="Shape 13"/>
          <p:cNvSpPr/>
          <p:nvPr/>
        </p:nvSpPr>
        <p:spPr>
          <a:xfrm>
            <a:off x="6126480" y="1417320"/>
            <a:ext cx="2560320" cy="54864"/>
          </a:xfrm>
          <a:prstGeom prst="rect">
            <a:avLst/>
          </a:prstGeom>
          <a:solidFill>
            <a:srgbClr val="E07A30"/>
          </a:solidFill>
          <a:ln w="12700">
            <a:solidFill>
              <a:srgbClr val="E07A3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6" name="Text 14"/>
          <p:cNvSpPr/>
          <p:nvPr/>
        </p:nvSpPr>
        <p:spPr>
          <a:xfrm>
            <a:off x="6263640" y="15544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Low Rejections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63640" y="1947672"/>
            <a:ext cx="22860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9BB8E8"/>
                </a:solidFill>
              </a:rPr>
              <a:t>Builds the quality story used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9BB8E8"/>
                </a:solidFill>
              </a:rPr>
              <a:t>to win pricing battles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3127248" y="2057400"/>
            <a:ext cx="201168" cy="18288"/>
          </a:xfrm>
          <a:prstGeom prst="rect">
            <a:avLst/>
          </a:prstGeom>
          <a:solidFill>
            <a:srgbClr val="4A9BE8"/>
          </a:solidFill>
          <a:ln w="12700">
            <a:solidFill>
              <a:srgbClr val="4A9BE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9" name="Text 17"/>
          <p:cNvSpPr/>
          <p:nvPr/>
        </p:nvSpPr>
        <p:spPr>
          <a:xfrm>
            <a:off x="3081528" y="1993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9BE8"/>
                </a:solidFill>
              </a:rPr>
              <a:t>→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16168" y="2057400"/>
            <a:ext cx="201168" cy="18288"/>
          </a:xfrm>
          <a:prstGeom prst="rect">
            <a:avLst/>
          </a:prstGeom>
          <a:solidFill>
            <a:srgbClr val="4A9BE8"/>
          </a:solidFill>
          <a:ln w="12700">
            <a:solidFill>
              <a:srgbClr val="4A9BE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1" name="Text 19"/>
          <p:cNvSpPr/>
          <p:nvPr/>
        </p:nvSpPr>
        <p:spPr>
          <a:xfrm>
            <a:off x="5870448" y="1993392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4A9BE8"/>
                </a:solidFill>
              </a:rPr>
              <a:t>→</a:t>
            </a:r>
            <a:endParaRPr lang="en-US" sz="1600" dirty="0"/>
          </a:p>
        </p:txBody>
      </p:sp>
      <p:sp>
        <p:nvSpPr>
          <p:cNvPr id="22" name="Shape 20"/>
          <p:cNvSpPr/>
          <p:nvPr/>
        </p:nvSpPr>
        <p:spPr>
          <a:xfrm>
            <a:off x="548640" y="3291840"/>
            <a:ext cx="2651760" cy="1389888"/>
          </a:xfrm>
          <a:prstGeom prst="rect">
            <a:avLst/>
          </a:prstGeom>
          <a:solidFill>
            <a:srgbClr val="1A2F5A"/>
          </a:solidFill>
          <a:ln w="6350">
            <a:solidFill>
              <a:srgbClr val="3A5A9A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3" name="Text 21"/>
          <p:cNvSpPr/>
          <p:nvPr/>
        </p:nvSpPr>
        <p:spPr>
          <a:xfrm>
            <a:off x="685800" y="3401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BA8D8"/>
                </a:solidFill>
              </a:rPr>
              <a:t>Financial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85800" y="36758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D8F5"/>
                </a:solidFill>
              </a:rPr>
              <a:t>A 5% retention improvement = 25–95% profit uplift (Bain &amp; Co). Each Tier 1 account = $500K+ annual revenue.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3383280" y="3291840"/>
            <a:ext cx="2651760" cy="1389888"/>
          </a:xfrm>
          <a:prstGeom prst="rect">
            <a:avLst/>
          </a:prstGeom>
          <a:solidFill>
            <a:srgbClr val="1A2F5A"/>
          </a:solidFill>
          <a:ln w="6350">
            <a:solidFill>
              <a:srgbClr val="3A5A9A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6" name="Text 24"/>
          <p:cNvSpPr/>
          <p:nvPr/>
        </p:nvSpPr>
        <p:spPr>
          <a:xfrm>
            <a:off x="3520440" y="3401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BA8D8"/>
                </a:solidFill>
              </a:rPr>
              <a:t>Competitive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3520440" y="36758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D8F5"/>
                </a:solidFill>
              </a:rPr>
              <a:t>1.8% rejection rate is 56% below industry average — a clear, provable quality advantage.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217920" y="3291840"/>
            <a:ext cx="2651760" cy="1389888"/>
          </a:xfrm>
          <a:prstGeom prst="rect">
            <a:avLst/>
          </a:prstGeom>
          <a:solidFill>
            <a:srgbClr val="1A2F5A"/>
          </a:solidFill>
          <a:ln w="6350">
            <a:solidFill>
              <a:srgbClr val="3A5A9A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9" name="Text 27"/>
          <p:cNvSpPr/>
          <p:nvPr/>
        </p:nvSpPr>
        <p:spPr>
          <a:xfrm>
            <a:off x="6355080" y="3401568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7BA8D8"/>
                </a:solidFill>
              </a:rPr>
              <a:t>Organizational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355080" y="3675888"/>
            <a:ext cx="23774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C5D8F5"/>
                </a:solidFill>
              </a:rPr>
              <a:t>This framework creates shared metrics and accountability across Sales, Ops, Marketing, and Finance.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7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6E4F7"/>
                </a:solidFill>
              </a:rPr>
              <a:t>SECTION 5 — RECOMMENDATIONS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Text 3"/>
          <p:cNvSpPr/>
          <p:nvPr/>
        </p:nvSpPr>
        <p:spPr>
          <a:xfrm>
            <a:off x="365760" y="49286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Resolv Corporation  |  Performance Dashboard Project  |  Q1 2026  |  Placeholder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</a:rPr>
              <a:t>6 Actions for Q2 2026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365760" y="1325880"/>
            <a:ext cx="4206240" cy="987552"/>
          </a:xfrm>
          <a:prstGeom prst="rect">
            <a:avLst/>
          </a:prstGeom>
          <a:solidFill>
            <a:srgbClr val="FFF0F0"/>
          </a:solidFill>
          <a:ln w="10160">
            <a:solidFill>
              <a:srgbClr val="9B2335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8" name="Shape 6"/>
          <p:cNvSpPr/>
          <p:nvPr/>
        </p:nvSpPr>
        <p:spPr>
          <a:xfrm>
            <a:off x="365760" y="1325880"/>
            <a:ext cx="475488" cy="987552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365760" y="1325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R1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65760" y="1801368"/>
            <a:ext cx="475488" cy="512064"/>
          </a:xfrm>
          <a:prstGeom prst="rect">
            <a:avLst/>
          </a:prstGeom>
          <a:solidFill>
            <a:srgbClr val="9B2335">
              <a:alpha val="40000"/>
            </a:srgbClr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Text 9"/>
          <p:cNvSpPr/>
          <p:nvPr/>
        </p:nvSpPr>
        <p:spPr>
          <a:xfrm>
            <a:off x="384048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Critical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932688" y="138988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Build a competitive quote log in the CRM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932688" y="1709928"/>
            <a:ext cx="3547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Every time a customer shares a competitor's price, record it. This closes the biggest intelligence gap.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423160"/>
            <a:ext cx="4206240" cy="987552"/>
          </a:xfrm>
          <a:prstGeom prst="rect">
            <a:avLst/>
          </a:prstGeom>
          <a:solidFill>
            <a:srgbClr val="FFF0F0"/>
          </a:solidFill>
          <a:ln w="10160">
            <a:solidFill>
              <a:srgbClr val="9B2335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15" name="Shape 13"/>
          <p:cNvSpPr/>
          <p:nvPr/>
        </p:nvSpPr>
        <p:spPr>
          <a:xfrm>
            <a:off x="365760" y="2423160"/>
            <a:ext cx="475488" cy="987552"/>
          </a:xfrm>
          <a:prstGeom prst="rect">
            <a:avLst/>
          </a:prstGeom>
          <a:solidFill>
            <a:srgbClr val="9B2335"/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6" name="Text 14"/>
          <p:cNvSpPr/>
          <p:nvPr/>
        </p:nvSpPr>
        <p:spPr>
          <a:xfrm>
            <a:off x="365760" y="2423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R2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365760" y="2898648"/>
            <a:ext cx="475488" cy="512064"/>
          </a:xfrm>
          <a:prstGeom prst="rect">
            <a:avLst/>
          </a:prstGeom>
          <a:solidFill>
            <a:srgbClr val="9B2335">
              <a:alpha val="40000"/>
            </a:srgbClr>
          </a:solidFill>
          <a:ln w="12700">
            <a:solidFill>
              <a:srgbClr val="9B233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8" name="Text 16"/>
          <p:cNvSpPr/>
          <p:nvPr/>
        </p:nvSpPr>
        <p:spPr>
          <a:xfrm>
            <a:off x="384048" y="2926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Critical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932688" y="24871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100% pre-shipment sample coverage for new accounts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32688" y="2807208"/>
            <a:ext cx="3547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No bulk shipment to a new customer until they have approved a sample in writing.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65760" y="3520440"/>
            <a:ext cx="4206240" cy="987552"/>
          </a:xfrm>
          <a:prstGeom prst="rect">
            <a:avLst/>
          </a:prstGeom>
          <a:solidFill>
            <a:srgbClr val="FFFBF0"/>
          </a:solidFill>
          <a:ln w="10160">
            <a:solidFill>
              <a:srgbClr val="B8860B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22" name="Shape 20"/>
          <p:cNvSpPr/>
          <p:nvPr/>
        </p:nvSpPr>
        <p:spPr>
          <a:xfrm>
            <a:off x="365760" y="3520440"/>
            <a:ext cx="475488" cy="9875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3" name="Text 21"/>
          <p:cNvSpPr/>
          <p:nvPr/>
        </p:nvSpPr>
        <p:spPr>
          <a:xfrm>
            <a:off x="36576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R3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365760" y="3995928"/>
            <a:ext cx="475488" cy="512064"/>
          </a:xfrm>
          <a:prstGeom prst="rect">
            <a:avLst/>
          </a:prstGeom>
          <a:solidFill>
            <a:srgbClr val="B8860B">
              <a:alpha val="40000"/>
            </a:srgbClr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5" name="Text 23"/>
          <p:cNvSpPr/>
          <p:nvPr/>
        </p:nvSpPr>
        <p:spPr>
          <a:xfrm>
            <a:off x="384048" y="4023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26" name="Text 24"/>
          <p:cNvSpPr/>
          <p:nvPr/>
        </p:nvSpPr>
        <p:spPr>
          <a:xfrm>
            <a:off x="932688" y="3584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Create a Tier 2 pricing playbook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932688" y="3904488"/>
            <a:ext cx="3547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Standard price matrix for 3, 6, and 12-month confirmed orders — so salespeople know what to offer.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800600" y="1325880"/>
            <a:ext cx="4206240" cy="987552"/>
          </a:xfrm>
          <a:prstGeom prst="rect">
            <a:avLst/>
          </a:prstGeom>
          <a:solidFill>
            <a:srgbClr val="FFFBF0"/>
          </a:solidFill>
          <a:ln w="10160">
            <a:solidFill>
              <a:srgbClr val="B8860B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29" name="Shape 27"/>
          <p:cNvSpPr/>
          <p:nvPr/>
        </p:nvSpPr>
        <p:spPr>
          <a:xfrm>
            <a:off x="4800600" y="1325880"/>
            <a:ext cx="475488" cy="987552"/>
          </a:xfrm>
          <a:prstGeom prst="rect">
            <a:avLst/>
          </a:prstGeom>
          <a:solidFill>
            <a:srgbClr val="B8860B"/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0" name="Text 28"/>
          <p:cNvSpPr/>
          <p:nvPr/>
        </p:nvSpPr>
        <p:spPr>
          <a:xfrm>
            <a:off x="4800600" y="132588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R4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800600" y="1801368"/>
            <a:ext cx="475488" cy="512064"/>
          </a:xfrm>
          <a:prstGeom prst="rect">
            <a:avLst/>
          </a:prstGeom>
          <a:solidFill>
            <a:srgbClr val="B8860B">
              <a:alpha val="40000"/>
            </a:srgbClr>
          </a:solidFill>
          <a:ln w="12700">
            <a:solidFill>
              <a:srgbClr val="B8860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2" name="Text 30"/>
          <p:cNvSpPr/>
          <p:nvPr/>
        </p:nvSpPr>
        <p:spPr>
          <a:xfrm>
            <a:off x="4818888" y="182880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High</a:t>
            </a:r>
            <a:endParaRPr lang="en-US" sz="700" dirty="0"/>
          </a:p>
        </p:txBody>
      </p:sp>
      <p:sp>
        <p:nvSpPr>
          <p:cNvPr id="33" name="Text 31"/>
          <p:cNvSpPr/>
          <p:nvPr/>
        </p:nvSpPr>
        <p:spPr>
          <a:xfrm>
            <a:off x="5367528" y="138988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Brand Resolv on every sample package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367528" y="1709928"/>
            <a:ext cx="3547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Add branded inserts and tech sheets to every sample, each delivery is also a brand touchpoint.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800600" y="2423160"/>
            <a:ext cx="4206240" cy="987552"/>
          </a:xfrm>
          <a:prstGeom prst="rect">
            <a:avLst/>
          </a:prstGeom>
          <a:solidFill>
            <a:srgbClr val="F0F4FF"/>
          </a:solidFill>
          <a:ln w="10160">
            <a:solidFill>
              <a:srgbClr val="2E5FA3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36" name="Shape 34"/>
          <p:cNvSpPr/>
          <p:nvPr/>
        </p:nvSpPr>
        <p:spPr>
          <a:xfrm>
            <a:off x="4800600" y="2423160"/>
            <a:ext cx="475488" cy="98755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7" name="Text 35"/>
          <p:cNvSpPr/>
          <p:nvPr/>
        </p:nvSpPr>
        <p:spPr>
          <a:xfrm>
            <a:off x="4800600" y="242316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R5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800600" y="2898648"/>
            <a:ext cx="475488" cy="512064"/>
          </a:xfrm>
          <a:prstGeom prst="rect">
            <a:avLst/>
          </a:prstGeom>
          <a:solidFill>
            <a:srgbClr val="2E5FA3">
              <a:alpha val="40000"/>
            </a:srgbClr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9" name="Text 37"/>
          <p:cNvSpPr/>
          <p:nvPr/>
        </p:nvSpPr>
        <p:spPr>
          <a:xfrm>
            <a:off x="4818888" y="292608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40" name="Text 38"/>
          <p:cNvSpPr/>
          <p:nvPr/>
        </p:nvSpPr>
        <p:spPr>
          <a:xfrm>
            <a:off x="5367528" y="248716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Expand customer survey to 150+ respondents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367528" y="2807208"/>
            <a:ext cx="3547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Current n=112 limits segment-level accuracy. More respondents = more reliable NPS by tier.</a:t>
            </a:r>
            <a:endParaRPr lang="en-US" sz="1000" dirty="0"/>
          </a:p>
        </p:txBody>
      </p:sp>
      <p:sp>
        <p:nvSpPr>
          <p:cNvPr id="42" name="Shape 40"/>
          <p:cNvSpPr/>
          <p:nvPr/>
        </p:nvSpPr>
        <p:spPr>
          <a:xfrm>
            <a:off x="4800600" y="3520440"/>
            <a:ext cx="4206240" cy="987552"/>
          </a:xfrm>
          <a:prstGeom prst="rect">
            <a:avLst/>
          </a:prstGeom>
          <a:solidFill>
            <a:srgbClr val="F0F4FF"/>
          </a:solidFill>
          <a:ln w="10160">
            <a:solidFill>
              <a:srgbClr val="2E5FA3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43" name="Shape 41"/>
          <p:cNvSpPr/>
          <p:nvPr/>
        </p:nvSpPr>
        <p:spPr>
          <a:xfrm>
            <a:off x="4800600" y="3520440"/>
            <a:ext cx="475488" cy="987552"/>
          </a:xfrm>
          <a:prstGeom prst="rect">
            <a:avLst/>
          </a:prstGeom>
          <a:solidFill>
            <a:srgbClr val="2E5FA3"/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4" name="Text 42"/>
          <p:cNvSpPr/>
          <p:nvPr/>
        </p:nvSpPr>
        <p:spPr>
          <a:xfrm>
            <a:off x="4800600" y="3520440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</a:rPr>
              <a:t>R6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800600" y="3995928"/>
            <a:ext cx="475488" cy="512064"/>
          </a:xfrm>
          <a:prstGeom prst="rect">
            <a:avLst/>
          </a:prstGeom>
          <a:solidFill>
            <a:srgbClr val="2E5FA3">
              <a:alpha val="40000"/>
            </a:srgbClr>
          </a:solidFill>
          <a:ln w="12700">
            <a:solidFill>
              <a:srgbClr val="2E5FA3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6" name="Text 44"/>
          <p:cNvSpPr/>
          <p:nvPr/>
        </p:nvSpPr>
        <p:spPr>
          <a:xfrm>
            <a:off x="4818888" y="4023360"/>
            <a:ext cx="43891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00" b="1" dirty="0">
                <a:solidFill>
                  <a:srgbClr val="FFFFFF"/>
                </a:solidFill>
              </a:rPr>
              <a:t>Medium</a:t>
            </a:r>
            <a:endParaRPr lang="en-US" sz="700" dirty="0"/>
          </a:p>
        </p:txBody>
      </p:sp>
      <p:sp>
        <p:nvSpPr>
          <p:cNvPr id="47" name="Text 45"/>
          <p:cNvSpPr/>
          <p:nvPr/>
        </p:nvSpPr>
        <p:spPr>
          <a:xfrm>
            <a:off x="5367528" y="3584448"/>
            <a:ext cx="3547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6B"/>
                </a:solidFill>
              </a:rPr>
              <a:t>Review bulk packaging credit schedule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5367528" y="3904488"/>
            <a:ext cx="354787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</a:rPr>
              <a:t>Credits are 18 months old. Updating them will strengthen the second-most-effective retention lever.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365760" y="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kern="0" spc="300" dirty="0">
                <a:solidFill>
                  <a:srgbClr val="D6E4F7"/>
                </a:solidFill>
              </a:rPr>
              <a:t>SECTION 6 — PROJECT DELIVERABLES</a:t>
            </a:r>
            <a:endParaRPr lang="en-US" sz="1000" dirty="0"/>
          </a:p>
        </p:txBody>
      </p:sp>
      <p:sp>
        <p:nvSpPr>
          <p:cNvPr id="4" name="Shape 2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Text 3"/>
          <p:cNvSpPr/>
          <p:nvPr/>
        </p:nvSpPr>
        <p:spPr>
          <a:xfrm>
            <a:off x="365760" y="49286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Resolv Corporation  |  Performance Dashboard Project  |  Q1 2026  |  Placeholder Data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64008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B3A6B"/>
                </a:solidFill>
              </a:rPr>
              <a:t>What Was Delivered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457200" y="1078992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4748B"/>
                </a:solidFill>
              </a:rPr>
              <a:t>Three fully built outputs that work together as a complete management system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269748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9" name="Shape 7"/>
          <p:cNvSpPr/>
          <p:nvPr/>
        </p:nvSpPr>
        <p:spPr>
          <a:xfrm>
            <a:off x="365760" y="1417320"/>
            <a:ext cx="2697480" cy="73152"/>
          </a:xfrm>
          <a:prstGeom prst="rect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0" name="Shape 8"/>
          <p:cNvSpPr/>
          <p:nvPr/>
        </p:nvSpPr>
        <p:spPr>
          <a:xfrm>
            <a:off x="1435608" y="1572768"/>
            <a:ext cx="566928" cy="566928"/>
          </a:xfrm>
          <a:prstGeom prst="ellipse">
            <a:avLst/>
          </a:prstGeom>
          <a:solidFill>
            <a:srgbClr val="EEF4FC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Text 9"/>
          <p:cNvSpPr/>
          <p:nvPr/>
        </p:nvSpPr>
        <p:spPr>
          <a:xfrm>
            <a:off x="1435608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3A6B"/>
                </a:solidFill>
              </a:rPr>
              <a:t>W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502920" y="2240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</a:rPr>
              <a:t>Word Report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02920" y="252374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22-page professional document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502920" y="2788920"/>
            <a:ext cx="2423160" cy="9144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Shape 13"/>
          <p:cNvSpPr/>
          <p:nvPr/>
        </p:nvSpPr>
        <p:spPr>
          <a:xfrm>
            <a:off x="548640" y="2944368"/>
            <a:ext cx="128016" cy="12801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6" name="Text 14"/>
          <p:cNvSpPr/>
          <p:nvPr/>
        </p:nvSpPr>
        <p:spPr>
          <a:xfrm>
            <a:off x="749808" y="28895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Cover page, table of contents, 15 sections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48640" y="3364992"/>
            <a:ext cx="128016" cy="12801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8" name="Text 16"/>
          <p:cNvSpPr/>
          <p:nvPr/>
        </p:nvSpPr>
        <p:spPr>
          <a:xfrm>
            <a:off x="749808" y="3310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Introduction, methodology, all three pillars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48640" y="3785616"/>
            <a:ext cx="128016" cy="12801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0" name="Text 18"/>
          <p:cNvSpPr/>
          <p:nvPr/>
        </p:nvSpPr>
        <p:spPr>
          <a:xfrm>
            <a:off x="749808" y="37307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Recommendations, significance, limitations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48640" y="4206240"/>
            <a:ext cx="128016" cy="128016"/>
          </a:xfrm>
          <a:prstGeom prst="ellipse">
            <a:avLst/>
          </a:prstGeom>
          <a:solidFill>
            <a:srgbClr val="1B3A6B"/>
          </a:solidFill>
          <a:ln w="12700">
            <a:solidFill>
              <a:srgbClr val="1B3A6B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2" name="Text 20"/>
          <p:cNvSpPr/>
          <p:nvPr/>
        </p:nvSpPr>
        <p:spPr>
          <a:xfrm>
            <a:off x="749808" y="41513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Conclusion, glossary, document control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3218688" y="1417320"/>
            <a:ext cx="269748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24" name="Shape 22"/>
          <p:cNvSpPr/>
          <p:nvPr/>
        </p:nvSpPr>
        <p:spPr>
          <a:xfrm>
            <a:off x="3218688" y="1417320"/>
            <a:ext cx="2697480" cy="73152"/>
          </a:xfrm>
          <a:prstGeom prst="rect">
            <a:avLst/>
          </a:prstGeom>
          <a:solidFill>
            <a:srgbClr val="217A45"/>
          </a:solidFill>
          <a:ln w="12700">
            <a:solidFill>
              <a:srgbClr val="217A4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5" name="Shape 23"/>
          <p:cNvSpPr/>
          <p:nvPr/>
        </p:nvSpPr>
        <p:spPr>
          <a:xfrm>
            <a:off x="4288536" y="1572768"/>
            <a:ext cx="566928" cy="566928"/>
          </a:xfrm>
          <a:prstGeom prst="ellipse">
            <a:avLst/>
          </a:prstGeom>
          <a:solidFill>
            <a:srgbClr val="D4EDDA"/>
          </a:solidFill>
          <a:ln w="12700">
            <a:solidFill>
              <a:srgbClr val="217A4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26" name="Text 24"/>
          <p:cNvSpPr/>
          <p:nvPr/>
        </p:nvSpPr>
        <p:spPr>
          <a:xfrm>
            <a:off x="4288536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217A45"/>
                </a:solidFill>
              </a:rPr>
              <a:t>X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355848" y="2240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</a:rPr>
              <a:t>Excel Data File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355848" y="252374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Live data template - 5 sheets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3355848" y="2788920"/>
            <a:ext cx="2423160" cy="9144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0" name="Shape 28"/>
          <p:cNvSpPr/>
          <p:nvPr/>
        </p:nvSpPr>
        <p:spPr>
          <a:xfrm>
            <a:off x="3401568" y="2944368"/>
            <a:ext cx="128016" cy="128016"/>
          </a:xfrm>
          <a:prstGeom prst="ellipse">
            <a:avLst/>
          </a:prstGeom>
          <a:solidFill>
            <a:srgbClr val="217A45"/>
          </a:solidFill>
          <a:ln w="12700">
            <a:solidFill>
              <a:srgbClr val="217A4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1" name="Text 29"/>
          <p:cNvSpPr/>
          <p:nvPr/>
        </p:nvSpPr>
        <p:spPr>
          <a:xfrm>
            <a:off x="3602736" y="28895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Sheet per pillar + KPI summary dashboard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3401568" y="3364992"/>
            <a:ext cx="128016" cy="128016"/>
          </a:xfrm>
          <a:prstGeom prst="ellipse">
            <a:avLst/>
          </a:prstGeom>
          <a:solidFill>
            <a:srgbClr val="217A45"/>
          </a:solidFill>
          <a:ln w="12700">
            <a:solidFill>
              <a:srgbClr val="217A4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3" name="Text 31"/>
          <p:cNvSpPr/>
          <p:nvPr/>
        </p:nvSpPr>
        <p:spPr>
          <a:xfrm>
            <a:off x="3602736" y="3310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86 working formulas (zero errors)</a:t>
            </a:r>
            <a:endParaRPr lang="en-US" sz="950" dirty="0"/>
          </a:p>
        </p:txBody>
      </p:sp>
      <p:sp>
        <p:nvSpPr>
          <p:cNvPr id="34" name="Shape 32"/>
          <p:cNvSpPr/>
          <p:nvPr/>
        </p:nvSpPr>
        <p:spPr>
          <a:xfrm>
            <a:off x="3401568" y="3785616"/>
            <a:ext cx="128016" cy="128016"/>
          </a:xfrm>
          <a:prstGeom prst="ellipse">
            <a:avLst/>
          </a:prstGeom>
          <a:solidFill>
            <a:srgbClr val="217A45"/>
          </a:solidFill>
          <a:ln w="12700">
            <a:solidFill>
              <a:srgbClr val="217A4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5" name="Text 33"/>
          <p:cNvSpPr/>
          <p:nvPr/>
        </p:nvSpPr>
        <p:spPr>
          <a:xfrm>
            <a:off x="3602736" y="37307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Blue cells = inputs  |  Black = auto-calculated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3401568" y="4206240"/>
            <a:ext cx="128016" cy="128016"/>
          </a:xfrm>
          <a:prstGeom prst="ellipse">
            <a:avLst/>
          </a:prstGeom>
          <a:solidFill>
            <a:srgbClr val="217A45"/>
          </a:solidFill>
          <a:ln w="12700">
            <a:solidFill>
              <a:srgbClr val="217A45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7" name="Text 35"/>
          <p:cNvSpPr/>
          <p:nvPr/>
        </p:nvSpPr>
        <p:spPr>
          <a:xfrm>
            <a:off x="3602736" y="41513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Ready to replace with real CRM/ERP data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6071616" y="1417320"/>
            <a:ext cx="2697480" cy="3337560"/>
          </a:xfrm>
          <a:prstGeom prst="rect">
            <a:avLst/>
          </a:prstGeom>
          <a:solidFill>
            <a:srgbClr val="FFFFFF"/>
          </a:solidFill>
          <a:ln w="6350">
            <a:solidFill>
              <a:srgbClr val="E8ECF2"/>
            </a:solidFill>
            <a:prstDash val="solid"/>
          </a:ln>
          <a:effectLst>
            <a:outerShdw blurRad="101600" dist="38100" dir="8100000" algn="bl" rotWithShape="0">
              <a:srgbClr val="1B3A6B">
                <a:alpha val="10000"/>
              </a:srgbClr>
            </a:outerShdw>
          </a:effectLst>
        </p:spPr>
        <p:txBody>
          <a:bodyPr/>
          <a:lstStyle/>
          <a:p>
            <a:endParaRPr lang="en-TW"/>
          </a:p>
        </p:txBody>
      </p:sp>
      <p:sp>
        <p:nvSpPr>
          <p:cNvPr id="39" name="Shape 37"/>
          <p:cNvSpPr/>
          <p:nvPr/>
        </p:nvSpPr>
        <p:spPr>
          <a:xfrm>
            <a:off x="6071616" y="1417320"/>
            <a:ext cx="2697480" cy="73152"/>
          </a:xfrm>
          <a:prstGeom prst="rect">
            <a:avLst/>
          </a:prstGeom>
          <a:solidFill>
            <a:srgbClr val="9B6B00"/>
          </a:solidFill>
          <a:ln w="12700">
            <a:solidFill>
              <a:srgbClr val="9B6B0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0" name="Shape 38"/>
          <p:cNvSpPr/>
          <p:nvPr/>
        </p:nvSpPr>
        <p:spPr>
          <a:xfrm>
            <a:off x="7141464" y="1572768"/>
            <a:ext cx="566928" cy="566928"/>
          </a:xfrm>
          <a:prstGeom prst="ellipse">
            <a:avLst/>
          </a:prstGeom>
          <a:solidFill>
            <a:srgbClr val="FFF3CD"/>
          </a:solidFill>
          <a:ln w="12700">
            <a:solidFill>
              <a:srgbClr val="9B6B0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1" name="Text 39"/>
          <p:cNvSpPr/>
          <p:nvPr/>
        </p:nvSpPr>
        <p:spPr>
          <a:xfrm>
            <a:off x="7141464" y="15727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9B6B00"/>
                </a:solidFill>
              </a:rPr>
              <a:t>D</a:t>
            </a:r>
            <a:endParaRPr lang="en-US" sz="1800" dirty="0"/>
          </a:p>
        </p:txBody>
      </p:sp>
      <p:sp>
        <p:nvSpPr>
          <p:cNvPr id="42" name="Text 40"/>
          <p:cNvSpPr/>
          <p:nvPr/>
        </p:nvSpPr>
        <p:spPr>
          <a:xfrm>
            <a:off x="6208776" y="2240280"/>
            <a:ext cx="2423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B3A6B"/>
                </a:solidFill>
              </a:rPr>
              <a:t>Interactive Dashboard</a:t>
            </a:r>
            <a:endParaRPr lang="en-US" sz="1400" dirty="0"/>
          </a:p>
        </p:txBody>
      </p:sp>
      <p:sp>
        <p:nvSpPr>
          <p:cNvPr id="43" name="Text 41"/>
          <p:cNvSpPr/>
          <p:nvPr/>
        </p:nvSpPr>
        <p:spPr>
          <a:xfrm>
            <a:off x="6208776" y="2523744"/>
            <a:ext cx="2423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</a:rPr>
              <a:t>Visual HTML dashboard - 3 tabs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6208776" y="2788920"/>
            <a:ext cx="2423160" cy="9144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5" name="Shape 43"/>
          <p:cNvSpPr/>
          <p:nvPr/>
        </p:nvSpPr>
        <p:spPr>
          <a:xfrm>
            <a:off x="6254496" y="2944368"/>
            <a:ext cx="128016" cy="128016"/>
          </a:xfrm>
          <a:prstGeom prst="ellipse">
            <a:avLst/>
          </a:prstGeom>
          <a:solidFill>
            <a:srgbClr val="9B6B00"/>
          </a:solidFill>
          <a:ln w="12700">
            <a:solidFill>
              <a:srgbClr val="9B6B0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6" name="Text 44"/>
          <p:cNvSpPr/>
          <p:nvPr/>
        </p:nvSpPr>
        <p:spPr>
          <a:xfrm>
            <a:off x="6455664" y="288950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Brand metrics trend charts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6254496" y="3364992"/>
            <a:ext cx="128016" cy="128016"/>
          </a:xfrm>
          <a:prstGeom prst="ellipse">
            <a:avLst/>
          </a:prstGeom>
          <a:solidFill>
            <a:srgbClr val="9B6B00"/>
          </a:solidFill>
          <a:ln w="12700">
            <a:solidFill>
              <a:srgbClr val="9B6B0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48" name="Text 46"/>
          <p:cNvSpPr/>
          <p:nvPr/>
        </p:nvSpPr>
        <p:spPr>
          <a:xfrm>
            <a:off x="6455664" y="3310128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Rejection rate vs samples chart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6254496" y="3785616"/>
            <a:ext cx="128016" cy="128016"/>
          </a:xfrm>
          <a:prstGeom prst="ellipse">
            <a:avLst/>
          </a:prstGeom>
          <a:solidFill>
            <a:srgbClr val="9B6B00"/>
          </a:solidFill>
          <a:ln w="12700">
            <a:solidFill>
              <a:srgbClr val="9B6B0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0" name="Text 48"/>
          <p:cNvSpPr/>
          <p:nvPr/>
        </p:nvSpPr>
        <p:spPr>
          <a:xfrm>
            <a:off x="6455664" y="373075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Pricing challenge donut + lever bar chart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254496" y="4206240"/>
            <a:ext cx="128016" cy="128016"/>
          </a:xfrm>
          <a:prstGeom prst="ellipse">
            <a:avLst/>
          </a:prstGeom>
          <a:solidFill>
            <a:srgbClr val="9B6B00"/>
          </a:solidFill>
          <a:ln w="12700">
            <a:solidFill>
              <a:srgbClr val="9B6B00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2" name="Text 50"/>
          <p:cNvSpPr/>
          <p:nvPr/>
        </p:nvSpPr>
        <p:spPr>
          <a:xfrm>
            <a:off x="6455664" y="4151376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</a:rPr>
              <a:t>KPI cards for every headline metric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B3A6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919472"/>
            <a:ext cx="9144000" cy="224028"/>
          </a:xfrm>
          <a:prstGeom prst="rect">
            <a:avLst/>
          </a:prstGeom>
          <a:solidFill>
            <a:srgbClr val="E8ECF2"/>
          </a:solidFill>
          <a:ln w="12700">
            <a:solidFill>
              <a:srgbClr val="E8ECF2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3" name="Text 1"/>
          <p:cNvSpPr/>
          <p:nvPr/>
        </p:nvSpPr>
        <p:spPr>
          <a:xfrm>
            <a:off x="365760" y="4928616"/>
            <a:ext cx="8412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64748B"/>
                </a:solidFill>
              </a:rPr>
              <a:t>Resolv Corporation  |  Performance Dashboard Project  |  Q1 2026</a:t>
            </a:r>
            <a:endParaRPr lang="en-US" sz="800" dirty="0"/>
          </a:p>
        </p:txBody>
      </p:sp>
      <p:sp>
        <p:nvSpPr>
          <p:cNvPr id="4" name="Shape 2"/>
          <p:cNvSpPr/>
          <p:nvPr/>
        </p:nvSpPr>
        <p:spPr>
          <a:xfrm>
            <a:off x="6400800" y="0"/>
            <a:ext cx="2743200" cy="5143500"/>
          </a:xfrm>
          <a:prstGeom prst="rect">
            <a:avLst/>
          </a:prstGeom>
          <a:solidFill>
            <a:srgbClr val="243B6E"/>
          </a:solidFill>
          <a:ln w="12700">
            <a:solidFill>
              <a:srgbClr val="243B6E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5" name="Shape 3"/>
          <p:cNvSpPr/>
          <p:nvPr/>
        </p:nvSpPr>
        <p:spPr>
          <a:xfrm>
            <a:off x="0" y="4206240"/>
            <a:ext cx="9144000" cy="937260"/>
          </a:xfrm>
          <a:prstGeom prst="rect">
            <a:avLst/>
          </a:prstGeom>
          <a:solidFill>
            <a:srgbClr val="131F3F"/>
          </a:solidFill>
          <a:ln w="12700">
            <a:solidFill>
              <a:srgbClr val="131F3F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6" name="Text 4"/>
          <p:cNvSpPr/>
          <p:nvPr/>
        </p:nvSpPr>
        <p:spPr>
          <a:xfrm>
            <a:off x="548640" y="502920"/>
            <a:ext cx="5669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kern="0" spc="400" dirty="0">
                <a:solidFill>
                  <a:srgbClr val="9BB8E8"/>
                </a:solidFill>
              </a:rPr>
              <a:t>Conclusion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" y="896112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What this project</a:t>
            </a:r>
            <a:endParaRPr lang="en-US" sz="3000" dirty="0"/>
          </a:p>
          <a:p>
            <a:pPr marL="0" indent="0">
              <a:lnSpc>
                <a:spcPct val="115000"/>
              </a:lnSpc>
              <a:buNone/>
            </a:pPr>
            <a:r>
              <a:rPr lang="en-US" sz="3000" b="1" dirty="0">
                <a:solidFill>
                  <a:srgbClr val="FFFFFF"/>
                </a:solidFill>
              </a:rPr>
              <a:t>proves about Resolv</a:t>
            </a:r>
            <a:endParaRPr lang="en-US" sz="3000" dirty="0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201168" cy="201168"/>
          </a:xfrm>
          <a:prstGeom prst="ellipse">
            <a:avLst/>
          </a:prstGeom>
          <a:solidFill>
            <a:srgbClr val="4A9BE8"/>
          </a:solidFill>
          <a:ln w="12700">
            <a:solidFill>
              <a:srgbClr val="4A9BE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9" name="Text 7"/>
          <p:cNvSpPr/>
          <p:nvPr/>
        </p:nvSpPr>
        <p:spPr>
          <a:xfrm>
            <a:off x="868680" y="2057400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Rejection rate fell from 5.8% to 1.8% — the lowest in company history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2578608"/>
            <a:ext cx="201168" cy="201168"/>
          </a:xfrm>
          <a:prstGeom prst="ellipse">
            <a:avLst/>
          </a:prstGeom>
          <a:solidFill>
            <a:srgbClr val="4A9BE8"/>
          </a:solidFill>
          <a:ln w="12700">
            <a:solidFill>
              <a:srgbClr val="4A9BE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1" name="Text 9"/>
          <p:cNvSpPr/>
          <p:nvPr/>
        </p:nvSpPr>
        <p:spPr>
          <a:xfrm>
            <a:off x="868680" y="25328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All six brand metrics exceeded their Q1 2026 targets for the first time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48640" y="3054096"/>
            <a:ext cx="201168" cy="201168"/>
          </a:xfrm>
          <a:prstGeom prst="ellipse">
            <a:avLst/>
          </a:prstGeom>
          <a:solidFill>
            <a:srgbClr val="4A9BE8"/>
          </a:solidFill>
          <a:ln w="12700">
            <a:solidFill>
              <a:srgbClr val="4A9BE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3" name="Text 11"/>
          <p:cNvSpPr/>
          <p:nvPr/>
        </p:nvSpPr>
        <p:spPr>
          <a:xfrm>
            <a:off x="868680" y="3008376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87% of customers receiving competitive offers were successfully retained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529584"/>
            <a:ext cx="201168" cy="201168"/>
          </a:xfrm>
          <a:prstGeom prst="ellipse">
            <a:avLst/>
          </a:prstGeom>
          <a:solidFill>
            <a:srgbClr val="4A9BE8"/>
          </a:solidFill>
          <a:ln w="12700">
            <a:solidFill>
              <a:srgbClr val="4A9BE8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5" name="Text 13"/>
          <p:cNvSpPr/>
          <p:nvPr/>
        </p:nvSpPr>
        <p:spPr>
          <a:xfrm>
            <a:off x="868680" y="3483864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</a:rPr>
              <a:t>The sample program prevented $344,400 in rejection costs over 5 quarters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4242816"/>
            <a:ext cx="8229600" cy="621792"/>
          </a:xfrm>
          <a:prstGeom prst="rect">
            <a:avLst/>
          </a:prstGeom>
          <a:solidFill>
            <a:srgbClr val="111B38"/>
          </a:solidFill>
          <a:ln w="6350">
            <a:solidFill>
              <a:srgbClr val="3A5A9A"/>
            </a:solidFill>
            <a:prstDash val="solid"/>
          </a:ln>
        </p:spPr>
        <p:txBody>
          <a:bodyPr/>
          <a:lstStyle/>
          <a:p>
            <a:endParaRPr lang="en-TW"/>
          </a:p>
        </p:txBody>
      </p:sp>
      <p:sp>
        <p:nvSpPr>
          <p:cNvPr id="17" name="Text 15"/>
          <p:cNvSpPr/>
          <p:nvPr/>
        </p:nvSpPr>
        <p:spPr>
          <a:xfrm>
            <a:off x="731520" y="4270248"/>
            <a:ext cx="78638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9BB8E8"/>
                </a:solidFill>
              </a:rPr>
              <a:t>Resolv's advantage is not price - it is quality, consistency, and trust. This framework measures, monitors, and protects all three.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1" name="Rectangle 103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026" name="Picture 2" descr="Download Our Thank You PPT And Google Slides Template">
            <a:extLst>
              <a:ext uri="{FF2B5EF4-FFF2-40B4-BE49-F238E27FC236}">
                <a16:creationId xmlns:a16="http://schemas.microsoft.com/office/drawing/2014/main" id="{9B1431ED-5F01-20A2-3E0E-55999085E7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"/>
          <a:stretch>
            <a:fillRect/>
          </a:stretch>
        </p:blipFill>
        <p:spPr bwMode="auto">
          <a:xfrm>
            <a:off x="20" y="961"/>
            <a:ext cx="9143980" cy="51425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0402978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7329</TotalTime>
  <Words>1543</Words>
  <Application>Microsoft Macintosh PowerPoint</Application>
  <PresentationFormat>On-screen Show (16:9)</PresentationFormat>
  <Paragraphs>328</Paragraphs>
  <Slides>14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Resolv Corporation — Performance Dashboard Project</dc:title>
  <dc:subject>PptxGenJS Presentation</dc:subject>
  <dc:creator>PptxGenJS</dc:creator>
  <cp:lastModifiedBy>kaszadraja@gmail.com</cp:lastModifiedBy>
  <cp:revision>6</cp:revision>
  <dcterms:created xsi:type="dcterms:W3CDTF">2026-03-19T16:30:57Z</dcterms:created>
  <dcterms:modified xsi:type="dcterms:W3CDTF">2026-03-24T18:44:01Z</dcterms:modified>
</cp:coreProperties>
</file>